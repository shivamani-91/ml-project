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jpeg" ContentType="image/jpeg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65D785A-8B05-49DD-9FBB-E5303A4FE64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212E92-6CF2-41C3-8473-BD7B1DF9F9A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75CA81-3728-42DD-AD29-F15234D9C7D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496B25-04F9-425F-8A69-F1F84476AB0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9B2DFA-417B-4E74-BF62-6F6A894AF19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C2215F-7E2D-465B-97C4-EBA6C4D7CFE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C67FFC-5830-4E67-A608-322460E937D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1AFF13-EA8D-4313-8E87-70574146E9B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D41CFA-E087-4B56-B0D7-5BA535955E8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1AEC4E-2653-4343-B4FC-4FB5E73822E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981DF5-C6B4-4987-8710-05DFDF26F87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0218FA-9579-480E-A086-89EBDF97B15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7DD383-E569-48F1-A82A-7081AE7AD1A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F6DFA6-65DD-46B6-BFF2-FFE17248001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02A76D-7172-44A9-94DC-28BC1CEBB80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E24182-32B3-432F-8CCD-CF5162AB0D8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7111f">
              <a:alpha val="76000"/>
            </a:srgbClr>
          </a:solidFill>
          <a:ln w="12700">
            <a:solidFill>
              <a:srgbClr val="0711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0"/>
            <a:ext cx="7131960" cy="6857640"/>
          </a:xfrm>
          <a:prstGeom prst="rect">
            <a:avLst/>
          </a:prstGeom>
          <a:solidFill>
            <a:srgbClr val="07111f">
              <a:alpha val="93000"/>
            </a:srgbClr>
          </a:solidFill>
          <a:ln w="12700">
            <a:solidFill>
              <a:srgbClr val="0711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621720" y="594360"/>
            <a:ext cx="3062880" cy="347040"/>
          </a:xfrm>
          <a:prstGeom prst="roundRect">
            <a:avLst>
              <a:gd name="adj" fmla="val 21053"/>
            </a:avLst>
          </a:prstGeom>
          <a:solidFill>
            <a:srgbClr val="35e6a3">
              <a:alpha val="18000"/>
            </a:srgbClr>
          </a:solidFill>
          <a:ln w="10160">
            <a:solidFill>
              <a:srgbClr val="35e6a3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94800" y="676800"/>
            <a:ext cx="2916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35e6a3"/>
                </a:solidFill>
                <a:effectLst/>
                <a:uFillTx/>
                <a:latin typeface="Aptos"/>
              </a:rPr>
              <a:t>B.TECH CSE · MACHINE LEARNING PROJECT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621720" y="1261800"/>
            <a:ext cx="621756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AI Stock Price</a:t>
            </a:r>
            <a:endParaRPr b="0" lang="en-US" sz="4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Predictor</a:t>
            </a:r>
            <a:endParaRPr b="0" lang="en-US" sz="4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658440" y="2862000"/>
            <a:ext cx="4434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201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USING LSTM &amp; GRU</a:t>
            </a:r>
            <a:endParaRPr b="0" lang="en-US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658440" y="3410640"/>
            <a:ext cx="5303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d9e7f2"/>
                </a:solidFill>
                <a:effectLst/>
                <a:uFillTx/>
                <a:latin typeface="Aptos"/>
              </a:rPr>
              <a:t>Deep Learning Based Financial Time-Series Forecasting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658080" y="4132800"/>
            <a:ext cx="4846320" cy="360"/>
          </a:xfrm>
          <a:prstGeom prst="line">
            <a:avLst/>
          </a:prstGeom>
          <a:ln w="12700">
            <a:solidFill>
              <a:srgbClr val="1b3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658440" y="441648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G Yuvan Shivamani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658440" y="483732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Roll No. 2520030310  ·  B.Tech Computer Science &amp; Engineering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658440" y="6071760"/>
            <a:ext cx="5668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Academic / educational project · Predictions are not financial advice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"/>
          <p:cNvSpPr/>
          <p:nvPr/>
        </p:nvSpPr>
        <p:spPr>
          <a:xfrm>
            <a:off x="5029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2"/>
          <p:cNvSpPr/>
          <p:nvPr/>
        </p:nvSpPr>
        <p:spPr>
          <a:xfrm>
            <a:off x="10058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15087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20116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5"/>
          <p:cNvSpPr/>
          <p:nvPr/>
        </p:nvSpPr>
        <p:spPr>
          <a:xfrm>
            <a:off x="25146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6"/>
          <p:cNvSpPr/>
          <p:nvPr/>
        </p:nvSpPr>
        <p:spPr>
          <a:xfrm>
            <a:off x="30175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7"/>
          <p:cNvSpPr/>
          <p:nvPr/>
        </p:nvSpPr>
        <p:spPr>
          <a:xfrm>
            <a:off x="35204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8"/>
          <p:cNvSpPr/>
          <p:nvPr/>
        </p:nvSpPr>
        <p:spPr>
          <a:xfrm>
            <a:off x="40233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9"/>
          <p:cNvSpPr/>
          <p:nvPr/>
        </p:nvSpPr>
        <p:spPr>
          <a:xfrm>
            <a:off x="45262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0"/>
          <p:cNvSpPr/>
          <p:nvPr/>
        </p:nvSpPr>
        <p:spPr>
          <a:xfrm>
            <a:off x="50292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1"/>
          <p:cNvSpPr/>
          <p:nvPr/>
        </p:nvSpPr>
        <p:spPr>
          <a:xfrm>
            <a:off x="55321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2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3"/>
          <p:cNvSpPr/>
          <p:nvPr/>
        </p:nvSpPr>
        <p:spPr>
          <a:xfrm>
            <a:off x="65379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4"/>
          <p:cNvSpPr/>
          <p:nvPr/>
        </p:nvSpPr>
        <p:spPr>
          <a:xfrm>
            <a:off x="70408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5"/>
          <p:cNvSpPr/>
          <p:nvPr/>
        </p:nvSpPr>
        <p:spPr>
          <a:xfrm>
            <a:off x="75438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6"/>
          <p:cNvSpPr/>
          <p:nvPr/>
        </p:nvSpPr>
        <p:spPr>
          <a:xfrm>
            <a:off x="80467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7"/>
          <p:cNvSpPr/>
          <p:nvPr/>
        </p:nvSpPr>
        <p:spPr>
          <a:xfrm>
            <a:off x="85496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8"/>
          <p:cNvSpPr/>
          <p:nvPr/>
        </p:nvSpPr>
        <p:spPr>
          <a:xfrm>
            <a:off x="90525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9"/>
          <p:cNvSpPr/>
          <p:nvPr/>
        </p:nvSpPr>
        <p:spPr>
          <a:xfrm>
            <a:off x="95554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0"/>
          <p:cNvSpPr/>
          <p:nvPr/>
        </p:nvSpPr>
        <p:spPr>
          <a:xfrm>
            <a:off x="100584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1"/>
          <p:cNvSpPr/>
          <p:nvPr/>
        </p:nvSpPr>
        <p:spPr>
          <a:xfrm>
            <a:off x="105613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2"/>
          <p:cNvSpPr/>
          <p:nvPr/>
        </p:nvSpPr>
        <p:spPr>
          <a:xfrm>
            <a:off x="110642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3"/>
          <p:cNvSpPr/>
          <p:nvPr/>
        </p:nvSpPr>
        <p:spPr>
          <a:xfrm>
            <a:off x="115671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4"/>
          <p:cNvSpPr/>
          <p:nvPr/>
        </p:nvSpPr>
        <p:spPr>
          <a:xfrm>
            <a:off x="120700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5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6"/>
          <p:cNvSpPr/>
          <p:nvPr/>
        </p:nvSpPr>
        <p:spPr>
          <a:xfrm>
            <a:off x="0" y="5029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7"/>
          <p:cNvSpPr/>
          <p:nvPr/>
        </p:nvSpPr>
        <p:spPr>
          <a:xfrm>
            <a:off x="0" y="10058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8"/>
          <p:cNvSpPr/>
          <p:nvPr/>
        </p:nvSpPr>
        <p:spPr>
          <a:xfrm>
            <a:off x="0" y="15087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9"/>
          <p:cNvSpPr/>
          <p:nvPr/>
        </p:nvSpPr>
        <p:spPr>
          <a:xfrm>
            <a:off x="0" y="201168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30"/>
          <p:cNvSpPr/>
          <p:nvPr/>
        </p:nvSpPr>
        <p:spPr>
          <a:xfrm>
            <a:off x="0" y="251460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31"/>
          <p:cNvSpPr/>
          <p:nvPr/>
        </p:nvSpPr>
        <p:spPr>
          <a:xfrm>
            <a:off x="0" y="30175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32"/>
          <p:cNvSpPr/>
          <p:nvPr/>
        </p:nvSpPr>
        <p:spPr>
          <a:xfrm>
            <a:off x="0" y="35204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33"/>
          <p:cNvSpPr/>
          <p:nvPr/>
        </p:nvSpPr>
        <p:spPr>
          <a:xfrm>
            <a:off x="0" y="40233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34"/>
          <p:cNvSpPr/>
          <p:nvPr/>
        </p:nvSpPr>
        <p:spPr>
          <a:xfrm>
            <a:off x="0" y="452628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35"/>
          <p:cNvSpPr/>
          <p:nvPr/>
        </p:nvSpPr>
        <p:spPr>
          <a:xfrm>
            <a:off x="0" y="502920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36"/>
          <p:cNvSpPr/>
          <p:nvPr/>
        </p:nvSpPr>
        <p:spPr>
          <a:xfrm>
            <a:off x="0" y="55321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37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38"/>
          <p:cNvSpPr/>
          <p:nvPr/>
        </p:nvSpPr>
        <p:spPr>
          <a:xfrm>
            <a:off x="0" y="65379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9"/>
          <p:cNvSpPr/>
          <p:nvPr/>
        </p:nvSpPr>
        <p:spPr>
          <a:xfrm>
            <a:off x="502920" y="292680"/>
            <a:ext cx="502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39" strike="noStrike" u="none">
                <a:solidFill>
                  <a:srgbClr val="35e6a3"/>
                </a:solidFill>
                <a:effectLst/>
                <a:uFillTx/>
                <a:latin typeface="Aptos"/>
                <a:ea typeface="Aptos"/>
              </a:rPr>
              <a:t>02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40"/>
          <p:cNvSpPr/>
          <p:nvPr/>
        </p:nvSpPr>
        <p:spPr>
          <a:xfrm>
            <a:off x="1078920" y="29268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59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PROJECT OVERVIEW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41"/>
          <p:cNvSpPr/>
          <p:nvPr/>
        </p:nvSpPr>
        <p:spPr>
          <a:xfrm>
            <a:off x="502920" y="65844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Abstract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42"/>
          <p:cNvSpPr/>
          <p:nvPr/>
        </p:nvSpPr>
        <p:spPr>
          <a:xfrm>
            <a:off x="502920" y="1298160"/>
            <a:ext cx="11155680" cy="360"/>
          </a:xfrm>
          <a:prstGeom prst="line">
            <a:avLst/>
          </a:prstGeom>
          <a:ln w="12700">
            <a:solidFill>
              <a:srgbClr val="1b3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43"/>
          <p:cNvSpPr/>
          <p:nvPr/>
        </p:nvSpPr>
        <p:spPr>
          <a:xfrm>
            <a:off x="502920" y="1298160"/>
            <a:ext cx="1234440" cy="360"/>
          </a:xfrm>
          <a:prstGeom prst="line">
            <a:avLst/>
          </a:prstGeom>
          <a:ln w="381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44"/>
          <p:cNvSpPr/>
          <p:nvPr/>
        </p:nvSpPr>
        <p:spPr>
          <a:xfrm>
            <a:off x="7955280" y="6519600"/>
            <a:ext cx="3702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99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AI STOCK PRICE PREDICTOR  /  LSTM + GRU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45"/>
          <p:cNvSpPr/>
          <p:nvPr/>
        </p:nvSpPr>
        <p:spPr>
          <a:xfrm>
            <a:off x="530280" y="1609200"/>
            <a:ext cx="6510240" cy="436140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46"/>
          <p:cNvSpPr/>
          <p:nvPr/>
        </p:nvSpPr>
        <p:spPr>
          <a:xfrm>
            <a:off x="530280" y="1609200"/>
            <a:ext cx="50040" cy="43614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47"/>
          <p:cNvSpPr/>
          <p:nvPr/>
        </p:nvSpPr>
        <p:spPr>
          <a:xfrm>
            <a:off x="822960" y="1865520"/>
            <a:ext cx="59248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d9e7f2"/>
                </a:solidFill>
                <a:effectLst/>
                <a:uFillTx/>
                <a:latin typeface="Aptos"/>
              </a:rPr>
              <a:t>Stock prices contain non-linear patterns, market noise, changing trends, and temporal dependencies. This project builds an AI forecasting system that learns from historical OHLCV data using two recurrent deep-learning models.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48"/>
          <p:cNvSpPr/>
          <p:nvPr/>
        </p:nvSpPr>
        <p:spPr>
          <a:xfrm>
            <a:off x="822960" y="3081600"/>
            <a:ext cx="2057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30" strike="noStrike" u="none">
                <a:solidFill>
                  <a:srgbClr val="35e6a3"/>
                </a:solidFill>
                <a:effectLst/>
                <a:uFillTx/>
                <a:latin typeface="Aptos"/>
              </a:rPr>
              <a:t>PIPELINE IN ONE VIEW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49"/>
          <p:cNvSpPr/>
          <p:nvPr/>
        </p:nvSpPr>
        <p:spPr>
          <a:xfrm>
            <a:off x="822960" y="3429000"/>
            <a:ext cx="580608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t">
            <a:normAutofit/>
          </a:bodyPr>
          <a:p>
            <a:pPr marL="203040" indent="-203040" defTabSz="914400">
              <a:lnSpc>
                <a:spcPct val="100000"/>
              </a:lnSpc>
              <a:buClr>
                <a:srgbClr val="d9e7f2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d9e7f2"/>
                </a:solidFill>
                <a:effectLst/>
                <a:uFillTx/>
                <a:latin typeface="Aptos"/>
              </a:rPr>
              <a:t>Retrieve Yahoo Finance data or upload CSV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d9e7f2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d9e7f2"/>
                </a:solidFill>
                <a:effectLst/>
                <a:uFillTx/>
                <a:latin typeface="Aptos"/>
              </a:rPr>
              <a:t>Clean, sort, scale Close price, and form sliding windows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d9e7f2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d9e7f2"/>
                </a:solidFill>
                <a:effectLst/>
                <a:uFillTx/>
                <a:latin typeface="Aptos"/>
              </a:rPr>
              <a:t>Train and compare LSTM and GRU models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d9e7f2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d9e7f2"/>
                </a:solidFill>
                <a:effectLst/>
                <a:uFillTx/>
                <a:latin typeface="Aptos"/>
              </a:rPr>
              <a:t>Evaluate error, direction, and multi-step forecasts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d9e7f2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d9e7f2"/>
                </a:solidFill>
                <a:effectLst/>
                <a:uFillTx/>
                <a:latin typeface="Aptos"/>
              </a:rPr>
              <a:t>Present outputs through a Flask + Plotly dashboard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50"/>
          <p:cNvSpPr/>
          <p:nvPr/>
        </p:nvSpPr>
        <p:spPr>
          <a:xfrm>
            <a:off x="7360920" y="1664280"/>
            <a:ext cx="4297320" cy="63972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51"/>
          <p:cNvSpPr/>
          <p:nvPr/>
        </p:nvSpPr>
        <p:spPr>
          <a:xfrm>
            <a:off x="7360920" y="1664280"/>
            <a:ext cx="50040" cy="639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52"/>
          <p:cNvSpPr/>
          <p:nvPr/>
        </p:nvSpPr>
        <p:spPr>
          <a:xfrm>
            <a:off x="7589520" y="177408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9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DATA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53"/>
          <p:cNvSpPr/>
          <p:nvPr/>
        </p:nvSpPr>
        <p:spPr>
          <a:xfrm>
            <a:off x="8613720" y="17647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Historical OHLCV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54"/>
          <p:cNvSpPr/>
          <p:nvPr/>
        </p:nvSpPr>
        <p:spPr>
          <a:xfrm>
            <a:off x="7360920" y="2532960"/>
            <a:ext cx="4297320" cy="63972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55"/>
          <p:cNvSpPr/>
          <p:nvPr/>
        </p:nvSpPr>
        <p:spPr>
          <a:xfrm>
            <a:off x="7360920" y="2532960"/>
            <a:ext cx="50040" cy="639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56"/>
          <p:cNvSpPr/>
          <p:nvPr/>
        </p:nvSpPr>
        <p:spPr>
          <a:xfrm>
            <a:off x="7589520" y="2642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9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MODELS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57"/>
          <p:cNvSpPr/>
          <p:nvPr/>
        </p:nvSpPr>
        <p:spPr>
          <a:xfrm>
            <a:off x="8613720" y="263340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LSTM + GRU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58"/>
          <p:cNvSpPr/>
          <p:nvPr/>
        </p:nvSpPr>
        <p:spPr>
          <a:xfrm>
            <a:off x="7360920" y="3401640"/>
            <a:ext cx="4297320" cy="63972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59"/>
          <p:cNvSpPr/>
          <p:nvPr/>
        </p:nvSpPr>
        <p:spPr>
          <a:xfrm>
            <a:off x="7360920" y="3401640"/>
            <a:ext cx="50040" cy="639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60"/>
          <p:cNvSpPr/>
          <p:nvPr/>
        </p:nvSpPr>
        <p:spPr>
          <a:xfrm>
            <a:off x="7589520" y="351144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9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EVALUATE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61"/>
          <p:cNvSpPr/>
          <p:nvPr/>
        </p:nvSpPr>
        <p:spPr>
          <a:xfrm>
            <a:off x="8613720" y="350208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MSE · RMSE · MAE · MAPE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62"/>
          <p:cNvSpPr/>
          <p:nvPr/>
        </p:nvSpPr>
        <p:spPr>
          <a:xfrm>
            <a:off x="7360920" y="4270320"/>
            <a:ext cx="4297320" cy="63972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63"/>
          <p:cNvSpPr/>
          <p:nvPr/>
        </p:nvSpPr>
        <p:spPr>
          <a:xfrm>
            <a:off x="7360920" y="4270320"/>
            <a:ext cx="50040" cy="639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64"/>
          <p:cNvSpPr/>
          <p:nvPr/>
        </p:nvSpPr>
        <p:spPr>
          <a:xfrm>
            <a:off x="7589520" y="438012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9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FORECAST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65"/>
          <p:cNvSpPr/>
          <p:nvPr/>
        </p:nvSpPr>
        <p:spPr>
          <a:xfrm>
            <a:off x="8613720" y="437076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1 · 5 · 7 · 30 days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66"/>
          <p:cNvSpPr/>
          <p:nvPr/>
        </p:nvSpPr>
        <p:spPr>
          <a:xfrm>
            <a:off x="7360920" y="5139000"/>
            <a:ext cx="4297320" cy="63972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67"/>
          <p:cNvSpPr/>
          <p:nvPr/>
        </p:nvSpPr>
        <p:spPr>
          <a:xfrm>
            <a:off x="7360920" y="5139000"/>
            <a:ext cx="50040" cy="639720"/>
          </a:xfrm>
          <a:prstGeom prst="rect">
            <a:avLst/>
          </a:prstGeom>
          <a:solidFill>
            <a:srgbClr val="35e6a3"/>
          </a:solidFill>
          <a:ln w="12700">
            <a:solidFill>
              <a:srgbClr val="35e6a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68"/>
          <p:cNvSpPr/>
          <p:nvPr/>
        </p:nvSpPr>
        <p:spPr>
          <a:xfrm>
            <a:off x="7589520" y="524880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9" strike="noStrike" u="none">
                <a:solidFill>
                  <a:srgbClr val="35e6a3"/>
                </a:solidFill>
                <a:effectLst/>
                <a:uFillTx/>
                <a:latin typeface="Aptos"/>
              </a:rPr>
              <a:t>DELIVER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69"/>
          <p:cNvSpPr/>
          <p:nvPr/>
        </p:nvSpPr>
        <p:spPr>
          <a:xfrm>
            <a:off x="8613720" y="52394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Interactive dashboard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70"/>
          <p:cNvSpPr/>
          <p:nvPr/>
        </p:nvSpPr>
        <p:spPr>
          <a:xfrm>
            <a:off x="7360920" y="6053400"/>
            <a:ext cx="42973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No guaranteed future prices · No financial advice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"/>
          <p:cNvSpPr/>
          <p:nvPr/>
        </p:nvSpPr>
        <p:spPr>
          <a:xfrm>
            <a:off x="5029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2"/>
          <p:cNvSpPr/>
          <p:nvPr/>
        </p:nvSpPr>
        <p:spPr>
          <a:xfrm>
            <a:off x="10058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3"/>
          <p:cNvSpPr/>
          <p:nvPr/>
        </p:nvSpPr>
        <p:spPr>
          <a:xfrm>
            <a:off x="15087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4"/>
          <p:cNvSpPr/>
          <p:nvPr/>
        </p:nvSpPr>
        <p:spPr>
          <a:xfrm>
            <a:off x="20116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5"/>
          <p:cNvSpPr/>
          <p:nvPr/>
        </p:nvSpPr>
        <p:spPr>
          <a:xfrm>
            <a:off x="25146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6"/>
          <p:cNvSpPr/>
          <p:nvPr/>
        </p:nvSpPr>
        <p:spPr>
          <a:xfrm>
            <a:off x="30175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7"/>
          <p:cNvSpPr/>
          <p:nvPr/>
        </p:nvSpPr>
        <p:spPr>
          <a:xfrm>
            <a:off x="35204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8"/>
          <p:cNvSpPr/>
          <p:nvPr/>
        </p:nvSpPr>
        <p:spPr>
          <a:xfrm>
            <a:off x="40233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9"/>
          <p:cNvSpPr/>
          <p:nvPr/>
        </p:nvSpPr>
        <p:spPr>
          <a:xfrm>
            <a:off x="45262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0"/>
          <p:cNvSpPr/>
          <p:nvPr/>
        </p:nvSpPr>
        <p:spPr>
          <a:xfrm>
            <a:off x="50292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1"/>
          <p:cNvSpPr/>
          <p:nvPr/>
        </p:nvSpPr>
        <p:spPr>
          <a:xfrm>
            <a:off x="55321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2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3"/>
          <p:cNvSpPr/>
          <p:nvPr/>
        </p:nvSpPr>
        <p:spPr>
          <a:xfrm>
            <a:off x="65379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4"/>
          <p:cNvSpPr/>
          <p:nvPr/>
        </p:nvSpPr>
        <p:spPr>
          <a:xfrm>
            <a:off x="70408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5"/>
          <p:cNvSpPr/>
          <p:nvPr/>
        </p:nvSpPr>
        <p:spPr>
          <a:xfrm>
            <a:off x="75438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6"/>
          <p:cNvSpPr/>
          <p:nvPr/>
        </p:nvSpPr>
        <p:spPr>
          <a:xfrm>
            <a:off x="80467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7"/>
          <p:cNvSpPr/>
          <p:nvPr/>
        </p:nvSpPr>
        <p:spPr>
          <a:xfrm>
            <a:off x="85496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8"/>
          <p:cNvSpPr/>
          <p:nvPr/>
        </p:nvSpPr>
        <p:spPr>
          <a:xfrm>
            <a:off x="90525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9"/>
          <p:cNvSpPr/>
          <p:nvPr/>
        </p:nvSpPr>
        <p:spPr>
          <a:xfrm>
            <a:off x="95554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20"/>
          <p:cNvSpPr/>
          <p:nvPr/>
        </p:nvSpPr>
        <p:spPr>
          <a:xfrm>
            <a:off x="100584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1"/>
          <p:cNvSpPr/>
          <p:nvPr/>
        </p:nvSpPr>
        <p:spPr>
          <a:xfrm>
            <a:off x="105613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2"/>
          <p:cNvSpPr/>
          <p:nvPr/>
        </p:nvSpPr>
        <p:spPr>
          <a:xfrm>
            <a:off x="110642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3"/>
          <p:cNvSpPr/>
          <p:nvPr/>
        </p:nvSpPr>
        <p:spPr>
          <a:xfrm>
            <a:off x="115671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4"/>
          <p:cNvSpPr/>
          <p:nvPr/>
        </p:nvSpPr>
        <p:spPr>
          <a:xfrm>
            <a:off x="120700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5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26"/>
          <p:cNvSpPr/>
          <p:nvPr/>
        </p:nvSpPr>
        <p:spPr>
          <a:xfrm>
            <a:off x="0" y="5029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27"/>
          <p:cNvSpPr/>
          <p:nvPr/>
        </p:nvSpPr>
        <p:spPr>
          <a:xfrm>
            <a:off x="0" y="10058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8"/>
          <p:cNvSpPr/>
          <p:nvPr/>
        </p:nvSpPr>
        <p:spPr>
          <a:xfrm>
            <a:off x="0" y="15087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9"/>
          <p:cNvSpPr/>
          <p:nvPr/>
        </p:nvSpPr>
        <p:spPr>
          <a:xfrm>
            <a:off x="0" y="201168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30"/>
          <p:cNvSpPr/>
          <p:nvPr/>
        </p:nvSpPr>
        <p:spPr>
          <a:xfrm>
            <a:off x="0" y="251460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31"/>
          <p:cNvSpPr/>
          <p:nvPr/>
        </p:nvSpPr>
        <p:spPr>
          <a:xfrm>
            <a:off x="0" y="30175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32"/>
          <p:cNvSpPr/>
          <p:nvPr/>
        </p:nvSpPr>
        <p:spPr>
          <a:xfrm>
            <a:off x="0" y="35204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33"/>
          <p:cNvSpPr/>
          <p:nvPr/>
        </p:nvSpPr>
        <p:spPr>
          <a:xfrm>
            <a:off x="0" y="40233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34"/>
          <p:cNvSpPr/>
          <p:nvPr/>
        </p:nvSpPr>
        <p:spPr>
          <a:xfrm>
            <a:off x="0" y="452628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35"/>
          <p:cNvSpPr/>
          <p:nvPr/>
        </p:nvSpPr>
        <p:spPr>
          <a:xfrm>
            <a:off x="0" y="502920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36"/>
          <p:cNvSpPr/>
          <p:nvPr/>
        </p:nvSpPr>
        <p:spPr>
          <a:xfrm>
            <a:off x="0" y="55321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37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38"/>
          <p:cNvSpPr/>
          <p:nvPr/>
        </p:nvSpPr>
        <p:spPr>
          <a:xfrm>
            <a:off x="0" y="65379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39"/>
          <p:cNvSpPr/>
          <p:nvPr/>
        </p:nvSpPr>
        <p:spPr>
          <a:xfrm>
            <a:off x="502920" y="292680"/>
            <a:ext cx="502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39" strike="noStrike" u="none">
                <a:solidFill>
                  <a:srgbClr val="35e6a3"/>
                </a:solidFill>
                <a:effectLst/>
                <a:uFillTx/>
                <a:latin typeface="Aptos"/>
                <a:ea typeface="Aptos"/>
              </a:rPr>
              <a:t>03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40"/>
          <p:cNvSpPr/>
          <p:nvPr/>
        </p:nvSpPr>
        <p:spPr>
          <a:xfrm>
            <a:off x="1078920" y="29268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59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WHY SEQUENCE MODELS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1"/>
          <p:cNvSpPr/>
          <p:nvPr/>
        </p:nvSpPr>
        <p:spPr>
          <a:xfrm>
            <a:off x="502920" y="65844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Introduction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42"/>
          <p:cNvSpPr/>
          <p:nvPr/>
        </p:nvSpPr>
        <p:spPr>
          <a:xfrm>
            <a:off x="502920" y="1298160"/>
            <a:ext cx="11155680" cy="360"/>
          </a:xfrm>
          <a:prstGeom prst="line">
            <a:avLst/>
          </a:prstGeom>
          <a:ln w="12700">
            <a:solidFill>
              <a:srgbClr val="1b3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43"/>
          <p:cNvSpPr/>
          <p:nvPr/>
        </p:nvSpPr>
        <p:spPr>
          <a:xfrm>
            <a:off x="502920" y="1298160"/>
            <a:ext cx="1234440" cy="360"/>
          </a:xfrm>
          <a:prstGeom prst="line">
            <a:avLst/>
          </a:prstGeom>
          <a:ln w="381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44"/>
          <p:cNvSpPr/>
          <p:nvPr/>
        </p:nvSpPr>
        <p:spPr>
          <a:xfrm>
            <a:off x="7955280" y="6519600"/>
            <a:ext cx="3702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99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AI STOCK PRICE PREDICTOR  /  LSTM + GRU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45"/>
          <p:cNvSpPr/>
          <p:nvPr/>
        </p:nvSpPr>
        <p:spPr>
          <a:xfrm>
            <a:off x="567000" y="1600200"/>
            <a:ext cx="7497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Stock forecasting estimates future price movement from time-ordered observations—not independent rows.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46"/>
          <p:cNvSpPr/>
          <p:nvPr/>
        </p:nvSpPr>
        <p:spPr>
          <a:xfrm>
            <a:off x="567000" y="2212920"/>
            <a:ext cx="3547440" cy="117000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47"/>
          <p:cNvSpPr/>
          <p:nvPr/>
        </p:nvSpPr>
        <p:spPr>
          <a:xfrm>
            <a:off x="567000" y="2212920"/>
            <a:ext cx="50040" cy="1170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48"/>
          <p:cNvSpPr/>
          <p:nvPr/>
        </p:nvSpPr>
        <p:spPr>
          <a:xfrm>
            <a:off x="768240" y="2377440"/>
            <a:ext cx="43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01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49"/>
          <p:cNvSpPr/>
          <p:nvPr/>
        </p:nvSpPr>
        <p:spPr>
          <a:xfrm>
            <a:off x="1316880" y="2377440"/>
            <a:ext cx="2422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71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TIME ORDER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50"/>
          <p:cNvSpPr/>
          <p:nvPr/>
        </p:nvSpPr>
        <p:spPr>
          <a:xfrm>
            <a:off x="1316880" y="2743200"/>
            <a:ext cx="2422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Yesterday influences today; sequence order carries information.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51"/>
          <p:cNvSpPr/>
          <p:nvPr/>
        </p:nvSpPr>
        <p:spPr>
          <a:xfrm>
            <a:off x="4453200" y="2212920"/>
            <a:ext cx="3547440" cy="117000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52"/>
          <p:cNvSpPr/>
          <p:nvPr/>
        </p:nvSpPr>
        <p:spPr>
          <a:xfrm>
            <a:off x="4453200" y="2212920"/>
            <a:ext cx="50040" cy="1170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53"/>
          <p:cNvSpPr/>
          <p:nvPr/>
        </p:nvSpPr>
        <p:spPr>
          <a:xfrm>
            <a:off x="4654440" y="2377440"/>
            <a:ext cx="43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02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54"/>
          <p:cNvSpPr/>
          <p:nvPr/>
        </p:nvSpPr>
        <p:spPr>
          <a:xfrm>
            <a:off x="5203080" y="2377440"/>
            <a:ext cx="2422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71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MARKET COMPLEXITY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55"/>
          <p:cNvSpPr/>
          <p:nvPr/>
        </p:nvSpPr>
        <p:spPr>
          <a:xfrm>
            <a:off x="5203080" y="2743200"/>
            <a:ext cx="2422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Prices reflect noisy, non-linear, and changing relationships.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56"/>
          <p:cNvSpPr/>
          <p:nvPr/>
        </p:nvSpPr>
        <p:spPr>
          <a:xfrm>
            <a:off x="567000" y="3721680"/>
            <a:ext cx="3547440" cy="117000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57"/>
          <p:cNvSpPr/>
          <p:nvPr/>
        </p:nvSpPr>
        <p:spPr>
          <a:xfrm>
            <a:off x="567000" y="3721680"/>
            <a:ext cx="50040" cy="1170000"/>
          </a:xfrm>
          <a:prstGeom prst="rect">
            <a:avLst/>
          </a:prstGeom>
          <a:solidFill>
            <a:srgbClr val="35e6a3"/>
          </a:solidFill>
          <a:ln w="12700">
            <a:solidFill>
              <a:srgbClr val="35e6a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58"/>
          <p:cNvSpPr/>
          <p:nvPr/>
        </p:nvSpPr>
        <p:spPr>
          <a:xfrm>
            <a:off x="768240" y="3886200"/>
            <a:ext cx="43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35e6a3"/>
                </a:solidFill>
                <a:effectLst/>
                <a:uFillTx/>
                <a:latin typeface="Aptos"/>
              </a:rPr>
              <a:t>03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59"/>
          <p:cNvSpPr/>
          <p:nvPr/>
        </p:nvSpPr>
        <p:spPr>
          <a:xfrm>
            <a:off x="1316880" y="3886200"/>
            <a:ext cx="2422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71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DEEP LEARNING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60"/>
          <p:cNvSpPr/>
          <p:nvPr/>
        </p:nvSpPr>
        <p:spPr>
          <a:xfrm>
            <a:off x="1316880" y="4251960"/>
            <a:ext cx="2422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Neural networks can learn representations directly from sequences.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61"/>
          <p:cNvSpPr/>
          <p:nvPr/>
        </p:nvSpPr>
        <p:spPr>
          <a:xfrm>
            <a:off x="4453200" y="3721680"/>
            <a:ext cx="3547440" cy="117000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62"/>
          <p:cNvSpPr/>
          <p:nvPr/>
        </p:nvSpPr>
        <p:spPr>
          <a:xfrm>
            <a:off x="4453200" y="3721680"/>
            <a:ext cx="50040" cy="1170000"/>
          </a:xfrm>
          <a:prstGeom prst="rect">
            <a:avLst/>
          </a:prstGeom>
          <a:solidFill>
            <a:srgbClr val="35e6a3"/>
          </a:solidFill>
          <a:ln w="12700">
            <a:solidFill>
              <a:srgbClr val="35e6a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63"/>
          <p:cNvSpPr/>
          <p:nvPr/>
        </p:nvSpPr>
        <p:spPr>
          <a:xfrm>
            <a:off x="4654440" y="3886200"/>
            <a:ext cx="43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35e6a3"/>
                </a:solidFill>
                <a:effectLst/>
                <a:uFillTx/>
                <a:latin typeface="Aptos"/>
              </a:rPr>
              <a:t>04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64"/>
          <p:cNvSpPr/>
          <p:nvPr/>
        </p:nvSpPr>
        <p:spPr>
          <a:xfrm>
            <a:off x="5203080" y="3886200"/>
            <a:ext cx="2422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71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RECURRENT MEMORY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65"/>
          <p:cNvSpPr/>
          <p:nvPr/>
        </p:nvSpPr>
        <p:spPr>
          <a:xfrm>
            <a:off x="5203080" y="4251960"/>
            <a:ext cx="2422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LSTM and GRU retain useful context across historical windows.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66"/>
          <p:cNvSpPr/>
          <p:nvPr/>
        </p:nvSpPr>
        <p:spPr>
          <a:xfrm>
            <a:off x="8458200" y="161856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19" strike="noStrike" u="none">
                <a:solidFill>
                  <a:srgbClr val="35e6a3"/>
                </a:solidFill>
                <a:effectLst/>
                <a:uFillTx/>
                <a:latin typeface="Aptos"/>
              </a:rPr>
              <a:t>SEQUENTIAL LEARNING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67"/>
          <p:cNvSpPr/>
          <p:nvPr/>
        </p:nvSpPr>
        <p:spPr>
          <a:xfrm>
            <a:off x="8275320" y="2148840"/>
            <a:ext cx="511560" cy="511560"/>
          </a:xfrm>
          <a:prstGeom prst="roundRect">
            <a:avLst>
              <a:gd name="adj" fmla="val 14286"/>
            </a:avLst>
          </a:prstGeom>
          <a:solidFill>
            <a:srgbClr val="10243a"/>
          </a:solidFill>
          <a:ln w="15240">
            <a:solidFill>
              <a:srgbClr val="22d3ee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68"/>
          <p:cNvSpPr/>
          <p:nvPr/>
        </p:nvSpPr>
        <p:spPr>
          <a:xfrm>
            <a:off x="8366760" y="2258640"/>
            <a:ext cx="328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t−4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69"/>
          <p:cNvSpPr/>
          <p:nvPr/>
        </p:nvSpPr>
        <p:spPr>
          <a:xfrm>
            <a:off x="8796240" y="2404800"/>
            <a:ext cx="137160" cy="360"/>
          </a:xfrm>
          <a:prstGeom prst="line">
            <a:avLst/>
          </a:prstGeom>
          <a:ln w="19050">
            <a:solidFill>
              <a:srgbClr val="38bd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70"/>
          <p:cNvSpPr/>
          <p:nvPr/>
        </p:nvSpPr>
        <p:spPr>
          <a:xfrm>
            <a:off x="8933760" y="2148840"/>
            <a:ext cx="511560" cy="511560"/>
          </a:xfrm>
          <a:prstGeom prst="roundRect">
            <a:avLst>
              <a:gd name="adj" fmla="val 14286"/>
            </a:avLst>
          </a:prstGeom>
          <a:solidFill>
            <a:srgbClr val="10243a"/>
          </a:solidFill>
          <a:ln w="15240">
            <a:solidFill>
              <a:srgbClr val="22d3ee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71"/>
          <p:cNvSpPr/>
          <p:nvPr/>
        </p:nvSpPr>
        <p:spPr>
          <a:xfrm>
            <a:off x="9025200" y="2258640"/>
            <a:ext cx="328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t−3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72"/>
          <p:cNvSpPr/>
          <p:nvPr/>
        </p:nvSpPr>
        <p:spPr>
          <a:xfrm>
            <a:off x="9454680" y="2404800"/>
            <a:ext cx="137160" cy="360"/>
          </a:xfrm>
          <a:prstGeom prst="line">
            <a:avLst/>
          </a:prstGeom>
          <a:ln w="19050">
            <a:solidFill>
              <a:srgbClr val="38bd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73"/>
          <p:cNvSpPr/>
          <p:nvPr/>
        </p:nvSpPr>
        <p:spPr>
          <a:xfrm>
            <a:off x="9592200" y="2148840"/>
            <a:ext cx="511560" cy="511560"/>
          </a:xfrm>
          <a:prstGeom prst="roundRect">
            <a:avLst>
              <a:gd name="adj" fmla="val 14286"/>
            </a:avLst>
          </a:prstGeom>
          <a:solidFill>
            <a:srgbClr val="10243a"/>
          </a:solidFill>
          <a:ln w="15240">
            <a:solidFill>
              <a:srgbClr val="22d3ee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74"/>
          <p:cNvSpPr/>
          <p:nvPr/>
        </p:nvSpPr>
        <p:spPr>
          <a:xfrm>
            <a:off x="9683640" y="2258640"/>
            <a:ext cx="328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t−2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75"/>
          <p:cNvSpPr/>
          <p:nvPr/>
        </p:nvSpPr>
        <p:spPr>
          <a:xfrm>
            <a:off x="10113120" y="2404800"/>
            <a:ext cx="137160" cy="360"/>
          </a:xfrm>
          <a:prstGeom prst="line">
            <a:avLst/>
          </a:prstGeom>
          <a:ln w="19050">
            <a:solidFill>
              <a:srgbClr val="38bd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76"/>
          <p:cNvSpPr/>
          <p:nvPr/>
        </p:nvSpPr>
        <p:spPr>
          <a:xfrm>
            <a:off x="10250280" y="2148840"/>
            <a:ext cx="511560" cy="511560"/>
          </a:xfrm>
          <a:prstGeom prst="roundRect">
            <a:avLst>
              <a:gd name="adj" fmla="val 14286"/>
            </a:avLst>
          </a:prstGeom>
          <a:solidFill>
            <a:srgbClr val="10243a"/>
          </a:solidFill>
          <a:ln w="15240">
            <a:solidFill>
              <a:srgbClr val="22d3ee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77"/>
          <p:cNvSpPr/>
          <p:nvPr/>
        </p:nvSpPr>
        <p:spPr>
          <a:xfrm>
            <a:off x="10341720" y="2258640"/>
            <a:ext cx="328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t−1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78"/>
          <p:cNvSpPr/>
          <p:nvPr/>
        </p:nvSpPr>
        <p:spPr>
          <a:xfrm>
            <a:off x="10771560" y="2404800"/>
            <a:ext cx="137160" cy="360"/>
          </a:xfrm>
          <a:prstGeom prst="line">
            <a:avLst/>
          </a:prstGeom>
          <a:ln w="19050">
            <a:solidFill>
              <a:srgbClr val="38bd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79"/>
          <p:cNvSpPr/>
          <p:nvPr/>
        </p:nvSpPr>
        <p:spPr>
          <a:xfrm>
            <a:off x="10908720" y="2148840"/>
            <a:ext cx="511560" cy="511560"/>
          </a:xfrm>
          <a:prstGeom prst="roundRect">
            <a:avLst>
              <a:gd name="adj" fmla="val 14286"/>
            </a:avLst>
          </a:prstGeom>
          <a:solidFill>
            <a:srgbClr val="10243a"/>
          </a:solidFill>
          <a:ln w="15240">
            <a:solidFill>
              <a:srgbClr val="35e6a3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80"/>
          <p:cNvSpPr/>
          <p:nvPr/>
        </p:nvSpPr>
        <p:spPr>
          <a:xfrm>
            <a:off x="11000160" y="2258640"/>
            <a:ext cx="328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t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81"/>
          <p:cNvSpPr/>
          <p:nvPr/>
        </p:nvSpPr>
        <p:spPr>
          <a:xfrm>
            <a:off x="8577000" y="3255120"/>
            <a:ext cx="2331360" cy="749520"/>
          </a:xfrm>
          <a:prstGeom prst="roundRect">
            <a:avLst>
              <a:gd name="adj" fmla="val 9756"/>
            </a:avLst>
          </a:prstGeom>
          <a:solidFill>
            <a:srgbClr val="10243a"/>
          </a:solidFill>
          <a:ln w="15240">
            <a:solidFill>
              <a:srgbClr val="22d3ee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82"/>
          <p:cNvSpPr/>
          <p:nvPr/>
        </p:nvSpPr>
        <p:spPr>
          <a:xfrm>
            <a:off x="8668440" y="3364920"/>
            <a:ext cx="2148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RNN memory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83"/>
          <p:cNvSpPr/>
          <p:nvPr/>
        </p:nvSpPr>
        <p:spPr>
          <a:xfrm>
            <a:off x="8668440" y="3648600"/>
            <a:ext cx="2148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captures temporal context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84"/>
          <p:cNvSpPr/>
          <p:nvPr/>
        </p:nvSpPr>
        <p:spPr>
          <a:xfrm>
            <a:off x="9738360" y="2679120"/>
            <a:ext cx="360" cy="530280"/>
          </a:xfrm>
          <a:prstGeom prst="line">
            <a:avLst/>
          </a:prstGeom>
          <a:ln w="19050">
            <a:solidFill>
              <a:srgbClr val="22d3e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85"/>
          <p:cNvSpPr/>
          <p:nvPr/>
        </p:nvSpPr>
        <p:spPr>
          <a:xfrm>
            <a:off x="9738360" y="4005000"/>
            <a:ext cx="360" cy="457200"/>
          </a:xfrm>
          <a:prstGeom prst="line">
            <a:avLst/>
          </a:prstGeom>
          <a:ln w="19050">
            <a:solidFill>
              <a:srgbClr val="35e6a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86"/>
          <p:cNvSpPr/>
          <p:nvPr/>
        </p:nvSpPr>
        <p:spPr>
          <a:xfrm>
            <a:off x="8961120" y="4590360"/>
            <a:ext cx="1554120" cy="767880"/>
          </a:xfrm>
          <a:prstGeom prst="roundRect">
            <a:avLst>
              <a:gd name="adj" fmla="val 9524"/>
            </a:avLst>
          </a:prstGeom>
          <a:solidFill>
            <a:srgbClr val="10243a"/>
          </a:solidFill>
          <a:ln w="15240">
            <a:solidFill>
              <a:srgbClr val="35e6a3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87"/>
          <p:cNvSpPr/>
          <p:nvPr/>
        </p:nvSpPr>
        <p:spPr>
          <a:xfrm>
            <a:off x="9052560" y="4700160"/>
            <a:ext cx="1371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ŷ(t+1)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88"/>
          <p:cNvSpPr/>
          <p:nvPr/>
        </p:nvSpPr>
        <p:spPr>
          <a:xfrm>
            <a:off x="9052560" y="4983480"/>
            <a:ext cx="1371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next Close estimate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"/>
          <p:cNvSpPr/>
          <p:nvPr/>
        </p:nvSpPr>
        <p:spPr>
          <a:xfrm>
            <a:off x="5029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2"/>
          <p:cNvSpPr/>
          <p:nvPr/>
        </p:nvSpPr>
        <p:spPr>
          <a:xfrm>
            <a:off x="10058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3"/>
          <p:cNvSpPr/>
          <p:nvPr/>
        </p:nvSpPr>
        <p:spPr>
          <a:xfrm>
            <a:off x="15087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4"/>
          <p:cNvSpPr/>
          <p:nvPr/>
        </p:nvSpPr>
        <p:spPr>
          <a:xfrm>
            <a:off x="20116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5"/>
          <p:cNvSpPr/>
          <p:nvPr/>
        </p:nvSpPr>
        <p:spPr>
          <a:xfrm>
            <a:off x="25146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6"/>
          <p:cNvSpPr/>
          <p:nvPr/>
        </p:nvSpPr>
        <p:spPr>
          <a:xfrm>
            <a:off x="30175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7"/>
          <p:cNvSpPr/>
          <p:nvPr/>
        </p:nvSpPr>
        <p:spPr>
          <a:xfrm>
            <a:off x="35204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8"/>
          <p:cNvSpPr/>
          <p:nvPr/>
        </p:nvSpPr>
        <p:spPr>
          <a:xfrm>
            <a:off x="40233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9"/>
          <p:cNvSpPr/>
          <p:nvPr/>
        </p:nvSpPr>
        <p:spPr>
          <a:xfrm>
            <a:off x="45262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0"/>
          <p:cNvSpPr/>
          <p:nvPr/>
        </p:nvSpPr>
        <p:spPr>
          <a:xfrm>
            <a:off x="50292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1"/>
          <p:cNvSpPr/>
          <p:nvPr/>
        </p:nvSpPr>
        <p:spPr>
          <a:xfrm>
            <a:off x="55321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2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3"/>
          <p:cNvSpPr/>
          <p:nvPr/>
        </p:nvSpPr>
        <p:spPr>
          <a:xfrm>
            <a:off x="65379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4"/>
          <p:cNvSpPr/>
          <p:nvPr/>
        </p:nvSpPr>
        <p:spPr>
          <a:xfrm>
            <a:off x="70408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5"/>
          <p:cNvSpPr/>
          <p:nvPr/>
        </p:nvSpPr>
        <p:spPr>
          <a:xfrm>
            <a:off x="75438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6"/>
          <p:cNvSpPr/>
          <p:nvPr/>
        </p:nvSpPr>
        <p:spPr>
          <a:xfrm>
            <a:off x="80467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7"/>
          <p:cNvSpPr/>
          <p:nvPr/>
        </p:nvSpPr>
        <p:spPr>
          <a:xfrm>
            <a:off x="85496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8"/>
          <p:cNvSpPr/>
          <p:nvPr/>
        </p:nvSpPr>
        <p:spPr>
          <a:xfrm>
            <a:off x="90525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9"/>
          <p:cNvSpPr/>
          <p:nvPr/>
        </p:nvSpPr>
        <p:spPr>
          <a:xfrm>
            <a:off x="95554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0"/>
          <p:cNvSpPr/>
          <p:nvPr/>
        </p:nvSpPr>
        <p:spPr>
          <a:xfrm>
            <a:off x="100584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21"/>
          <p:cNvSpPr/>
          <p:nvPr/>
        </p:nvSpPr>
        <p:spPr>
          <a:xfrm>
            <a:off x="105613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2"/>
          <p:cNvSpPr/>
          <p:nvPr/>
        </p:nvSpPr>
        <p:spPr>
          <a:xfrm>
            <a:off x="110642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23"/>
          <p:cNvSpPr/>
          <p:nvPr/>
        </p:nvSpPr>
        <p:spPr>
          <a:xfrm>
            <a:off x="115671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24"/>
          <p:cNvSpPr/>
          <p:nvPr/>
        </p:nvSpPr>
        <p:spPr>
          <a:xfrm>
            <a:off x="120700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25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26"/>
          <p:cNvSpPr/>
          <p:nvPr/>
        </p:nvSpPr>
        <p:spPr>
          <a:xfrm>
            <a:off x="0" y="5029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27"/>
          <p:cNvSpPr/>
          <p:nvPr/>
        </p:nvSpPr>
        <p:spPr>
          <a:xfrm>
            <a:off x="0" y="10058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8"/>
          <p:cNvSpPr/>
          <p:nvPr/>
        </p:nvSpPr>
        <p:spPr>
          <a:xfrm>
            <a:off x="0" y="15087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29"/>
          <p:cNvSpPr/>
          <p:nvPr/>
        </p:nvSpPr>
        <p:spPr>
          <a:xfrm>
            <a:off x="0" y="201168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30"/>
          <p:cNvSpPr/>
          <p:nvPr/>
        </p:nvSpPr>
        <p:spPr>
          <a:xfrm>
            <a:off x="0" y="251460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31"/>
          <p:cNvSpPr/>
          <p:nvPr/>
        </p:nvSpPr>
        <p:spPr>
          <a:xfrm>
            <a:off x="0" y="30175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32"/>
          <p:cNvSpPr/>
          <p:nvPr/>
        </p:nvSpPr>
        <p:spPr>
          <a:xfrm>
            <a:off x="0" y="35204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33"/>
          <p:cNvSpPr/>
          <p:nvPr/>
        </p:nvSpPr>
        <p:spPr>
          <a:xfrm>
            <a:off x="0" y="40233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34"/>
          <p:cNvSpPr/>
          <p:nvPr/>
        </p:nvSpPr>
        <p:spPr>
          <a:xfrm>
            <a:off x="0" y="452628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35"/>
          <p:cNvSpPr/>
          <p:nvPr/>
        </p:nvSpPr>
        <p:spPr>
          <a:xfrm>
            <a:off x="0" y="502920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36"/>
          <p:cNvSpPr/>
          <p:nvPr/>
        </p:nvSpPr>
        <p:spPr>
          <a:xfrm>
            <a:off x="0" y="55321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37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38"/>
          <p:cNvSpPr/>
          <p:nvPr/>
        </p:nvSpPr>
        <p:spPr>
          <a:xfrm>
            <a:off x="0" y="65379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39"/>
          <p:cNvSpPr/>
          <p:nvPr/>
        </p:nvSpPr>
        <p:spPr>
          <a:xfrm>
            <a:off x="502920" y="292680"/>
            <a:ext cx="502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39" strike="noStrike" u="none">
                <a:solidFill>
                  <a:srgbClr val="35e6a3"/>
                </a:solidFill>
                <a:effectLst/>
                <a:uFillTx/>
                <a:latin typeface="Aptos"/>
                <a:ea typeface="Aptos"/>
              </a:rPr>
              <a:t>04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40"/>
          <p:cNvSpPr/>
          <p:nvPr/>
        </p:nvSpPr>
        <p:spPr>
          <a:xfrm>
            <a:off x="1078920" y="29268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59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CORE CHALLENGE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41"/>
          <p:cNvSpPr/>
          <p:nvPr/>
        </p:nvSpPr>
        <p:spPr>
          <a:xfrm>
            <a:off x="502920" y="65844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Problem Statement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42"/>
          <p:cNvSpPr/>
          <p:nvPr/>
        </p:nvSpPr>
        <p:spPr>
          <a:xfrm>
            <a:off x="502920" y="1298160"/>
            <a:ext cx="11155680" cy="360"/>
          </a:xfrm>
          <a:prstGeom prst="line">
            <a:avLst/>
          </a:prstGeom>
          <a:ln w="12700">
            <a:solidFill>
              <a:srgbClr val="1b3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43"/>
          <p:cNvSpPr/>
          <p:nvPr/>
        </p:nvSpPr>
        <p:spPr>
          <a:xfrm>
            <a:off x="502920" y="1298160"/>
            <a:ext cx="1234440" cy="360"/>
          </a:xfrm>
          <a:prstGeom prst="line">
            <a:avLst/>
          </a:prstGeom>
          <a:ln w="381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44"/>
          <p:cNvSpPr/>
          <p:nvPr/>
        </p:nvSpPr>
        <p:spPr>
          <a:xfrm>
            <a:off x="7955280" y="6519600"/>
            <a:ext cx="3702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99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AI STOCK PRICE PREDICTOR  /  LSTM + GRU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45"/>
          <p:cNvSpPr/>
          <p:nvPr/>
        </p:nvSpPr>
        <p:spPr>
          <a:xfrm>
            <a:off x="567000" y="1664280"/>
            <a:ext cx="11045520" cy="106020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46"/>
          <p:cNvSpPr/>
          <p:nvPr/>
        </p:nvSpPr>
        <p:spPr>
          <a:xfrm>
            <a:off x="567000" y="1664280"/>
            <a:ext cx="50040" cy="1060200"/>
          </a:xfrm>
          <a:prstGeom prst="rect">
            <a:avLst/>
          </a:prstGeom>
          <a:solidFill>
            <a:srgbClr val="35e6a3"/>
          </a:solidFill>
          <a:ln w="12700">
            <a:solidFill>
              <a:srgbClr val="35e6a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47"/>
          <p:cNvSpPr/>
          <p:nvPr/>
        </p:nvSpPr>
        <p:spPr>
          <a:xfrm>
            <a:off x="896040" y="1938600"/>
            <a:ext cx="10378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Develop an intelligent system capable of learning patterns from historical stock-market data and forecasting future stock prices using LSTM and GRU deep learning models.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48"/>
          <p:cNvSpPr/>
          <p:nvPr/>
        </p:nvSpPr>
        <p:spPr>
          <a:xfrm>
            <a:off x="567000" y="3246120"/>
            <a:ext cx="1992960" cy="191988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49"/>
          <p:cNvSpPr/>
          <p:nvPr/>
        </p:nvSpPr>
        <p:spPr>
          <a:xfrm>
            <a:off x="567000" y="3246120"/>
            <a:ext cx="50040" cy="19198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50"/>
          <p:cNvSpPr/>
          <p:nvPr/>
        </p:nvSpPr>
        <p:spPr>
          <a:xfrm>
            <a:off x="1225440" y="3520440"/>
            <a:ext cx="658080" cy="65808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51"/>
          <p:cNvSpPr/>
          <p:nvPr/>
        </p:nvSpPr>
        <p:spPr>
          <a:xfrm>
            <a:off x="1225440" y="3730680"/>
            <a:ext cx="658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01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52"/>
          <p:cNvSpPr/>
          <p:nvPr/>
        </p:nvSpPr>
        <p:spPr>
          <a:xfrm>
            <a:off x="722520" y="4416480"/>
            <a:ext cx="1682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6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NON-LINEAR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53"/>
          <p:cNvSpPr/>
          <p:nvPr/>
        </p:nvSpPr>
        <p:spPr>
          <a:xfrm>
            <a:off x="749880" y="4754880"/>
            <a:ext cx="1627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Relationships are complex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54"/>
          <p:cNvSpPr/>
          <p:nvPr/>
        </p:nvSpPr>
        <p:spPr>
          <a:xfrm>
            <a:off x="2825640" y="3246120"/>
            <a:ext cx="1992960" cy="191988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55"/>
          <p:cNvSpPr/>
          <p:nvPr/>
        </p:nvSpPr>
        <p:spPr>
          <a:xfrm>
            <a:off x="2825640" y="3246120"/>
            <a:ext cx="50040" cy="1919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56"/>
          <p:cNvSpPr/>
          <p:nvPr/>
        </p:nvSpPr>
        <p:spPr>
          <a:xfrm>
            <a:off x="3483720" y="3520440"/>
            <a:ext cx="658080" cy="658080"/>
          </a:xfrm>
          <a:prstGeom prst="ellipse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57"/>
          <p:cNvSpPr/>
          <p:nvPr/>
        </p:nvSpPr>
        <p:spPr>
          <a:xfrm>
            <a:off x="3483720" y="3730680"/>
            <a:ext cx="658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38bdf8"/>
                </a:solidFill>
                <a:effectLst/>
                <a:uFillTx/>
                <a:latin typeface="Aptos"/>
              </a:rPr>
              <a:t>02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58"/>
          <p:cNvSpPr/>
          <p:nvPr/>
        </p:nvSpPr>
        <p:spPr>
          <a:xfrm>
            <a:off x="2980800" y="4416480"/>
            <a:ext cx="1682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6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NOISE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59"/>
          <p:cNvSpPr/>
          <p:nvPr/>
        </p:nvSpPr>
        <p:spPr>
          <a:xfrm>
            <a:off x="3008520" y="4754880"/>
            <a:ext cx="1627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Signal is weak and volatile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60"/>
          <p:cNvSpPr/>
          <p:nvPr/>
        </p:nvSpPr>
        <p:spPr>
          <a:xfrm>
            <a:off x="5083920" y="3246120"/>
            <a:ext cx="1992960" cy="191988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61"/>
          <p:cNvSpPr/>
          <p:nvPr/>
        </p:nvSpPr>
        <p:spPr>
          <a:xfrm>
            <a:off x="5083920" y="3246120"/>
            <a:ext cx="50040" cy="19198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62"/>
          <p:cNvSpPr/>
          <p:nvPr/>
        </p:nvSpPr>
        <p:spPr>
          <a:xfrm>
            <a:off x="5742360" y="3520440"/>
            <a:ext cx="658080" cy="65808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63"/>
          <p:cNvSpPr/>
          <p:nvPr/>
        </p:nvSpPr>
        <p:spPr>
          <a:xfrm>
            <a:off x="5742360" y="3730680"/>
            <a:ext cx="658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03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64"/>
          <p:cNvSpPr/>
          <p:nvPr/>
        </p:nvSpPr>
        <p:spPr>
          <a:xfrm>
            <a:off x="5239440" y="4416480"/>
            <a:ext cx="1682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6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TEMPORAL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65"/>
          <p:cNvSpPr/>
          <p:nvPr/>
        </p:nvSpPr>
        <p:spPr>
          <a:xfrm>
            <a:off x="5266800" y="4754880"/>
            <a:ext cx="1627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Dependencies span many days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66"/>
          <p:cNvSpPr/>
          <p:nvPr/>
        </p:nvSpPr>
        <p:spPr>
          <a:xfrm>
            <a:off x="7342560" y="3246120"/>
            <a:ext cx="1992960" cy="191988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67"/>
          <p:cNvSpPr/>
          <p:nvPr/>
        </p:nvSpPr>
        <p:spPr>
          <a:xfrm>
            <a:off x="7342560" y="3246120"/>
            <a:ext cx="50040" cy="1919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68"/>
          <p:cNvSpPr/>
          <p:nvPr/>
        </p:nvSpPr>
        <p:spPr>
          <a:xfrm>
            <a:off x="8001000" y="3520440"/>
            <a:ext cx="658080" cy="658080"/>
          </a:xfrm>
          <a:prstGeom prst="ellipse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69"/>
          <p:cNvSpPr/>
          <p:nvPr/>
        </p:nvSpPr>
        <p:spPr>
          <a:xfrm>
            <a:off x="8001000" y="3730680"/>
            <a:ext cx="658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38bdf8"/>
                </a:solidFill>
                <a:effectLst/>
                <a:uFillTx/>
                <a:latin typeface="Aptos"/>
              </a:rPr>
              <a:t>04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70"/>
          <p:cNvSpPr/>
          <p:nvPr/>
        </p:nvSpPr>
        <p:spPr>
          <a:xfrm>
            <a:off x="7498080" y="4416480"/>
            <a:ext cx="1682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6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DRIFT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71"/>
          <p:cNvSpPr/>
          <p:nvPr/>
        </p:nvSpPr>
        <p:spPr>
          <a:xfrm>
            <a:off x="7525440" y="4754880"/>
            <a:ext cx="1627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Market regimes change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72"/>
          <p:cNvSpPr/>
          <p:nvPr/>
        </p:nvSpPr>
        <p:spPr>
          <a:xfrm>
            <a:off x="9601200" y="3246120"/>
            <a:ext cx="1992960" cy="191988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73"/>
          <p:cNvSpPr/>
          <p:nvPr/>
        </p:nvSpPr>
        <p:spPr>
          <a:xfrm>
            <a:off x="9601200" y="3246120"/>
            <a:ext cx="50040" cy="19198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74"/>
          <p:cNvSpPr/>
          <p:nvPr/>
        </p:nvSpPr>
        <p:spPr>
          <a:xfrm>
            <a:off x="10259640" y="3520440"/>
            <a:ext cx="658080" cy="65808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75"/>
          <p:cNvSpPr/>
          <p:nvPr/>
        </p:nvSpPr>
        <p:spPr>
          <a:xfrm>
            <a:off x="10259640" y="3730680"/>
            <a:ext cx="658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05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76"/>
          <p:cNvSpPr/>
          <p:nvPr/>
        </p:nvSpPr>
        <p:spPr>
          <a:xfrm>
            <a:off x="9756720" y="4416480"/>
            <a:ext cx="1682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6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SCALE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77"/>
          <p:cNvSpPr/>
          <p:nvPr/>
        </p:nvSpPr>
        <p:spPr>
          <a:xfrm>
            <a:off x="9784080" y="4754880"/>
            <a:ext cx="1627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Datasets can be extensive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78"/>
          <p:cNvSpPr/>
          <p:nvPr/>
        </p:nvSpPr>
        <p:spPr>
          <a:xfrm>
            <a:off x="1463040" y="5650920"/>
            <a:ext cx="9235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35e6a3"/>
                </a:solidFill>
                <a:effectLst/>
                <a:uFillTx/>
                <a:latin typeface="Aptos"/>
              </a:rPr>
              <a:t>Design implication: preserve chronology, prevent data leakage, and compare models with multiple metrics.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1"/>
          <p:cNvSpPr/>
          <p:nvPr/>
        </p:nvSpPr>
        <p:spPr>
          <a:xfrm>
            <a:off x="5029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2"/>
          <p:cNvSpPr/>
          <p:nvPr/>
        </p:nvSpPr>
        <p:spPr>
          <a:xfrm>
            <a:off x="10058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3"/>
          <p:cNvSpPr/>
          <p:nvPr/>
        </p:nvSpPr>
        <p:spPr>
          <a:xfrm>
            <a:off x="15087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4"/>
          <p:cNvSpPr/>
          <p:nvPr/>
        </p:nvSpPr>
        <p:spPr>
          <a:xfrm>
            <a:off x="20116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5"/>
          <p:cNvSpPr/>
          <p:nvPr/>
        </p:nvSpPr>
        <p:spPr>
          <a:xfrm>
            <a:off x="25146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6"/>
          <p:cNvSpPr/>
          <p:nvPr/>
        </p:nvSpPr>
        <p:spPr>
          <a:xfrm>
            <a:off x="30175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7"/>
          <p:cNvSpPr/>
          <p:nvPr/>
        </p:nvSpPr>
        <p:spPr>
          <a:xfrm>
            <a:off x="35204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8"/>
          <p:cNvSpPr/>
          <p:nvPr/>
        </p:nvSpPr>
        <p:spPr>
          <a:xfrm>
            <a:off x="40233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9"/>
          <p:cNvSpPr/>
          <p:nvPr/>
        </p:nvSpPr>
        <p:spPr>
          <a:xfrm>
            <a:off x="45262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0"/>
          <p:cNvSpPr/>
          <p:nvPr/>
        </p:nvSpPr>
        <p:spPr>
          <a:xfrm>
            <a:off x="50292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11"/>
          <p:cNvSpPr/>
          <p:nvPr/>
        </p:nvSpPr>
        <p:spPr>
          <a:xfrm>
            <a:off x="55321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2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3"/>
          <p:cNvSpPr/>
          <p:nvPr/>
        </p:nvSpPr>
        <p:spPr>
          <a:xfrm>
            <a:off x="65379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4"/>
          <p:cNvSpPr/>
          <p:nvPr/>
        </p:nvSpPr>
        <p:spPr>
          <a:xfrm>
            <a:off x="70408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5"/>
          <p:cNvSpPr/>
          <p:nvPr/>
        </p:nvSpPr>
        <p:spPr>
          <a:xfrm>
            <a:off x="75438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6"/>
          <p:cNvSpPr/>
          <p:nvPr/>
        </p:nvSpPr>
        <p:spPr>
          <a:xfrm>
            <a:off x="80467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7"/>
          <p:cNvSpPr/>
          <p:nvPr/>
        </p:nvSpPr>
        <p:spPr>
          <a:xfrm>
            <a:off x="85496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8"/>
          <p:cNvSpPr/>
          <p:nvPr/>
        </p:nvSpPr>
        <p:spPr>
          <a:xfrm>
            <a:off x="90525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19"/>
          <p:cNvSpPr/>
          <p:nvPr/>
        </p:nvSpPr>
        <p:spPr>
          <a:xfrm>
            <a:off x="95554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20"/>
          <p:cNvSpPr/>
          <p:nvPr/>
        </p:nvSpPr>
        <p:spPr>
          <a:xfrm>
            <a:off x="100584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1"/>
          <p:cNvSpPr/>
          <p:nvPr/>
        </p:nvSpPr>
        <p:spPr>
          <a:xfrm>
            <a:off x="105613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22"/>
          <p:cNvSpPr/>
          <p:nvPr/>
        </p:nvSpPr>
        <p:spPr>
          <a:xfrm>
            <a:off x="110642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23"/>
          <p:cNvSpPr/>
          <p:nvPr/>
        </p:nvSpPr>
        <p:spPr>
          <a:xfrm>
            <a:off x="115671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24"/>
          <p:cNvSpPr/>
          <p:nvPr/>
        </p:nvSpPr>
        <p:spPr>
          <a:xfrm>
            <a:off x="120700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25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26"/>
          <p:cNvSpPr/>
          <p:nvPr/>
        </p:nvSpPr>
        <p:spPr>
          <a:xfrm>
            <a:off x="0" y="5029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27"/>
          <p:cNvSpPr/>
          <p:nvPr/>
        </p:nvSpPr>
        <p:spPr>
          <a:xfrm>
            <a:off x="0" y="10058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28"/>
          <p:cNvSpPr/>
          <p:nvPr/>
        </p:nvSpPr>
        <p:spPr>
          <a:xfrm>
            <a:off x="0" y="15087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29"/>
          <p:cNvSpPr/>
          <p:nvPr/>
        </p:nvSpPr>
        <p:spPr>
          <a:xfrm>
            <a:off x="0" y="201168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30"/>
          <p:cNvSpPr/>
          <p:nvPr/>
        </p:nvSpPr>
        <p:spPr>
          <a:xfrm>
            <a:off x="0" y="251460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31"/>
          <p:cNvSpPr/>
          <p:nvPr/>
        </p:nvSpPr>
        <p:spPr>
          <a:xfrm>
            <a:off x="0" y="30175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32"/>
          <p:cNvSpPr/>
          <p:nvPr/>
        </p:nvSpPr>
        <p:spPr>
          <a:xfrm>
            <a:off x="0" y="35204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33"/>
          <p:cNvSpPr/>
          <p:nvPr/>
        </p:nvSpPr>
        <p:spPr>
          <a:xfrm>
            <a:off x="0" y="40233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34"/>
          <p:cNvSpPr/>
          <p:nvPr/>
        </p:nvSpPr>
        <p:spPr>
          <a:xfrm>
            <a:off x="0" y="452628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35"/>
          <p:cNvSpPr/>
          <p:nvPr/>
        </p:nvSpPr>
        <p:spPr>
          <a:xfrm>
            <a:off x="0" y="502920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36"/>
          <p:cNvSpPr/>
          <p:nvPr/>
        </p:nvSpPr>
        <p:spPr>
          <a:xfrm>
            <a:off x="0" y="55321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37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38"/>
          <p:cNvSpPr/>
          <p:nvPr/>
        </p:nvSpPr>
        <p:spPr>
          <a:xfrm>
            <a:off x="0" y="65379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39"/>
          <p:cNvSpPr/>
          <p:nvPr/>
        </p:nvSpPr>
        <p:spPr>
          <a:xfrm>
            <a:off x="502920" y="292680"/>
            <a:ext cx="502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39" strike="noStrike" u="none">
                <a:solidFill>
                  <a:srgbClr val="35e6a3"/>
                </a:solidFill>
                <a:effectLst/>
                <a:uFillTx/>
                <a:latin typeface="Aptos"/>
                <a:ea typeface="Aptos"/>
              </a:rPr>
              <a:t>05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40"/>
          <p:cNvSpPr/>
          <p:nvPr/>
        </p:nvSpPr>
        <p:spPr>
          <a:xfrm>
            <a:off x="1078920" y="29268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59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WHAT THE SYSTEM MUST ACHIEVE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41"/>
          <p:cNvSpPr/>
          <p:nvPr/>
        </p:nvSpPr>
        <p:spPr>
          <a:xfrm>
            <a:off x="502920" y="65844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Project Objectives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42"/>
          <p:cNvSpPr/>
          <p:nvPr/>
        </p:nvSpPr>
        <p:spPr>
          <a:xfrm>
            <a:off x="502920" y="1298160"/>
            <a:ext cx="11155680" cy="360"/>
          </a:xfrm>
          <a:prstGeom prst="line">
            <a:avLst/>
          </a:prstGeom>
          <a:ln w="12700">
            <a:solidFill>
              <a:srgbClr val="1b3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43"/>
          <p:cNvSpPr/>
          <p:nvPr/>
        </p:nvSpPr>
        <p:spPr>
          <a:xfrm>
            <a:off x="502920" y="1298160"/>
            <a:ext cx="1234440" cy="360"/>
          </a:xfrm>
          <a:prstGeom prst="line">
            <a:avLst/>
          </a:prstGeom>
          <a:ln w="381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44"/>
          <p:cNvSpPr/>
          <p:nvPr/>
        </p:nvSpPr>
        <p:spPr>
          <a:xfrm>
            <a:off x="7955280" y="6519600"/>
            <a:ext cx="3702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99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AI STOCK PRICE PREDICTOR  /  LSTM + GRU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45"/>
          <p:cNvSpPr/>
          <p:nvPr/>
        </p:nvSpPr>
        <p:spPr>
          <a:xfrm>
            <a:off x="567000" y="1627560"/>
            <a:ext cx="3437640" cy="104220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46"/>
          <p:cNvSpPr/>
          <p:nvPr/>
        </p:nvSpPr>
        <p:spPr>
          <a:xfrm>
            <a:off x="567000" y="1627560"/>
            <a:ext cx="50040" cy="1042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47"/>
          <p:cNvSpPr/>
          <p:nvPr/>
        </p:nvSpPr>
        <p:spPr>
          <a:xfrm>
            <a:off x="749880" y="183780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01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48"/>
          <p:cNvSpPr/>
          <p:nvPr/>
        </p:nvSpPr>
        <p:spPr>
          <a:xfrm>
            <a:off x="1316880" y="1810440"/>
            <a:ext cx="24228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Collect historical stock-market data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49"/>
          <p:cNvSpPr/>
          <p:nvPr/>
        </p:nvSpPr>
        <p:spPr>
          <a:xfrm>
            <a:off x="4389120" y="1627560"/>
            <a:ext cx="3437640" cy="104220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50"/>
          <p:cNvSpPr/>
          <p:nvPr/>
        </p:nvSpPr>
        <p:spPr>
          <a:xfrm>
            <a:off x="4389120" y="1627560"/>
            <a:ext cx="50040" cy="1042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51"/>
          <p:cNvSpPr/>
          <p:nvPr/>
        </p:nvSpPr>
        <p:spPr>
          <a:xfrm>
            <a:off x="4572000" y="183780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02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52"/>
          <p:cNvSpPr/>
          <p:nvPr/>
        </p:nvSpPr>
        <p:spPr>
          <a:xfrm>
            <a:off x="5139000" y="1810440"/>
            <a:ext cx="24228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Clean and preprocess the dataset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53"/>
          <p:cNvSpPr/>
          <p:nvPr/>
        </p:nvSpPr>
        <p:spPr>
          <a:xfrm>
            <a:off x="8211240" y="1627560"/>
            <a:ext cx="3437640" cy="104220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54"/>
          <p:cNvSpPr/>
          <p:nvPr/>
        </p:nvSpPr>
        <p:spPr>
          <a:xfrm>
            <a:off x="8211240" y="1627560"/>
            <a:ext cx="50040" cy="1042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55"/>
          <p:cNvSpPr/>
          <p:nvPr/>
        </p:nvSpPr>
        <p:spPr>
          <a:xfrm>
            <a:off x="8394120" y="183780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03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56"/>
          <p:cNvSpPr/>
          <p:nvPr/>
        </p:nvSpPr>
        <p:spPr>
          <a:xfrm>
            <a:off x="8961120" y="1810440"/>
            <a:ext cx="24228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Normalize stock-price values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57"/>
          <p:cNvSpPr/>
          <p:nvPr/>
        </p:nvSpPr>
        <p:spPr>
          <a:xfrm>
            <a:off x="567000" y="3044880"/>
            <a:ext cx="3437640" cy="104220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58"/>
          <p:cNvSpPr/>
          <p:nvPr/>
        </p:nvSpPr>
        <p:spPr>
          <a:xfrm>
            <a:off x="567000" y="3044880"/>
            <a:ext cx="50040" cy="1042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59"/>
          <p:cNvSpPr/>
          <p:nvPr/>
        </p:nvSpPr>
        <p:spPr>
          <a:xfrm>
            <a:off x="749880" y="325512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04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60"/>
          <p:cNvSpPr/>
          <p:nvPr/>
        </p:nvSpPr>
        <p:spPr>
          <a:xfrm>
            <a:off x="1316880" y="3227760"/>
            <a:ext cx="24228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Create sliding-window sequences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61"/>
          <p:cNvSpPr/>
          <p:nvPr/>
        </p:nvSpPr>
        <p:spPr>
          <a:xfrm>
            <a:off x="4389120" y="3044880"/>
            <a:ext cx="3437640" cy="104220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62"/>
          <p:cNvSpPr/>
          <p:nvPr/>
        </p:nvSpPr>
        <p:spPr>
          <a:xfrm>
            <a:off x="4389120" y="3044880"/>
            <a:ext cx="50040" cy="1042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63"/>
          <p:cNvSpPr/>
          <p:nvPr/>
        </p:nvSpPr>
        <p:spPr>
          <a:xfrm>
            <a:off x="4572000" y="325512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05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64"/>
          <p:cNvSpPr/>
          <p:nvPr/>
        </p:nvSpPr>
        <p:spPr>
          <a:xfrm>
            <a:off x="5139000" y="3227760"/>
            <a:ext cx="24228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Train LSTM and GRU networks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65"/>
          <p:cNvSpPr/>
          <p:nvPr/>
        </p:nvSpPr>
        <p:spPr>
          <a:xfrm>
            <a:off x="8211240" y="3044880"/>
            <a:ext cx="3437640" cy="104220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66"/>
          <p:cNvSpPr/>
          <p:nvPr/>
        </p:nvSpPr>
        <p:spPr>
          <a:xfrm>
            <a:off x="8211240" y="3044880"/>
            <a:ext cx="50040" cy="1042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67"/>
          <p:cNvSpPr/>
          <p:nvPr/>
        </p:nvSpPr>
        <p:spPr>
          <a:xfrm>
            <a:off x="8394120" y="325512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06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68"/>
          <p:cNvSpPr/>
          <p:nvPr/>
        </p:nvSpPr>
        <p:spPr>
          <a:xfrm>
            <a:off x="8961120" y="3227760"/>
            <a:ext cx="24228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Compare model performance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69"/>
          <p:cNvSpPr/>
          <p:nvPr/>
        </p:nvSpPr>
        <p:spPr>
          <a:xfrm>
            <a:off x="567000" y="4462200"/>
            <a:ext cx="3437640" cy="104220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70"/>
          <p:cNvSpPr/>
          <p:nvPr/>
        </p:nvSpPr>
        <p:spPr>
          <a:xfrm>
            <a:off x="567000" y="4462200"/>
            <a:ext cx="50040" cy="1042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71"/>
          <p:cNvSpPr/>
          <p:nvPr/>
        </p:nvSpPr>
        <p:spPr>
          <a:xfrm>
            <a:off x="749880" y="467244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07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72"/>
          <p:cNvSpPr/>
          <p:nvPr/>
        </p:nvSpPr>
        <p:spPr>
          <a:xfrm>
            <a:off x="1316880" y="4645080"/>
            <a:ext cx="24228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Visualize actual vs predicted prices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73"/>
          <p:cNvSpPr/>
          <p:nvPr/>
        </p:nvSpPr>
        <p:spPr>
          <a:xfrm>
            <a:off x="4389120" y="4462200"/>
            <a:ext cx="3437640" cy="104220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74"/>
          <p:cNvSpPr/>
          <p:nvPr/>
        </p:nvSpPr>
        <p:spPr>
          <a:xfrm>
            <a:off x="4389120" y="4462200"/>
            <a:ext cx="50040" cy="1042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75"/>
          <p:cNvSpPr/>
          <p:nvPr/>
        </p:nvSpPr>
        <p:spPr>
          <a:xfrm>
            <a:off x="4572000" y="467244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08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76"/>
          <p:cNvSpPr/>
          <p:nvPr/>
        </p:nvSpPr>
        <p:spPr>
          <a:xfrm>
            <a:off x="5139000" y="4645080"/>
            <a:ext cx="24228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Forecast future stock prices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77"/>
          <p:cNvSpPr/>
          <p:nvPr/>
        </p:nvSpPr>
        <p:spPr>
          <a:xfrm>
            <a:off x="8211240" y="4462200"/>
            <a:ext cx="3437640" cy="104220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78"/>
          <p:cNvSpPr/>
          <p:nvPr/>
        </p:nvSpPr>
        <p:spPr>
          <a:xfrm>
            <a:off x="8211240" y="4462200"/>
            <a:ext cx="50040" cy="1042200"/>
          </a:xfrm>
          <a:prstGeom prst="rect">
            <a:avLst/>
          </a:prstGeom>
          <a:solidFill>
            <a:srgbClr val="35e6a3"/>
          </a:solidFill>
          <a:ln w="12700">
            <a:solidFill>
              <a:srgbClr val="35e6a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79"/>
          <p:cNvSpPr/>
          <p:nvPr/>
        </p:nvSpPr>
        <p:spPr>
          <a:xfrm>
            <a:off x="8394120" y="467244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35e6a3"/>
                </a:solidFill>
                <a:effectLst/>
                <a:uFillTx/>
                <a:latin typeface="Aptos"/>
              </a:rPr>
              <a:t>09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80"/>
          <p:cNvSpPr/>
          <p:nvPr/>
        </p:nvSpPr>
        <p:spPr>
          <a:xfrm>
            <a:off x="8961120" y="4645080"/>
            <a:ext cx="24228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Provide an interactive dashboard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1"/>
          <p:cNvSpPr/>
          <p:nvPr/>
        </p:nvSpPr>
        <p:spPr>
          <a:xfrm>
            <a:off x="5029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2"/>
          <p:cNvSpPr/>
          <p:nvPr/>
        </p:nvSpPr>
        <p:spPr>
          <a:xfrm>
            <a:off x="10058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3"/>
          <p:cNvSpPr/>
          <p:nvPr/>
        </p:nvSpPr>
        <p:spPr>
          <a:xfrm>
            <a:off x="15087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4"/>
          <p:cNvSpPr/>
          <p:nvPr/>
        </p:nvSpPr>
        <p:spPr>
          <a:xfrm>
            <a:off x="20116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5"/>
          <p:cNvSpPr/>
          <p:nvPr/>
        </p:nvSpPr>
        <p:spPr>
          <a:xfrm>
            <a:off x="25146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6"/>
          <p:cNvSpPr/>
          <p:nvPr/>
        </p:nvSpPr>
        <p:spPr>
          <a:xfrm>
            <a:off x="30175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7"/>
          <p:cNvSpPr/>
          <p:nvPr/>
        </p:nvSpPr>
        <p:spPr>
          <a:xfrm>
            <a:off x="35204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8"/>
          <p:cNvSpPr/>
          <p:nvPr/>
        </p:nvSpPr>
        <p:spPr>
          <a:xfrm>
            <a:off x="40233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9"/>
          <p:cNvSpPr/>
          <p:nvPr/>
        </p:nvSpPr>
        <p:spPr>
          <a:xfrm>
            <a:off x="45262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10"/>
          <p:cNvSpPr/>
          <p:nvPr/>
        </p:nvSpPr>
        <p:spPr>
          <a:xfrm>
            <a:off x="50292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11"/>
          <p:cNvSpPr/>
          <p:nvPr/>
        </p:nvSpPr>
        <p:spPr>
          <a:xfrm>
            <a:off x="55321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12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13"/>
          <p:cNvSpPr/>
          <p:nvPr/>
        </p:nvSpPr>
        <p:spPr>
          <a:xfrm>
            <a:off x="65379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14"/>
          <p:cNvSpPr/>
          <p:nvPr/>
        </p:nvSpPr>
        <p:spPr>
          <a:xfrm>
            <a:off x="70408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15"/>
          <p:cNvSpPr/>
          <p:nvPr/>
        </p:nvSpPr>
        <p:spPr>
          <a:xfrm>
            <a:off x="75438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16"/>
          <p:cNvSpPr/>
          <p:nvPr/>
        </p:nvSpPr>
        <p:spPr>
          <a:xfrm>
            <a:off x="80467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17"/>
          <p:cNvSpPr/>
          <p:nvPr/>
        </p:nvSpPr>
        <p:spPr>
          <a:xfrm>
            <a:off x="85496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18"/>
          <p:cNvSpPr/>
          <p:nvPr/>
        </p:nvSpPr>
        <p:spPr>
          <a:xfrm>
            <a:off x="90525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19"/>
          <p:cNvSpPr/>
          <p:nvPr/>
        </p:nvSpPr>
        <p:spPr>
          <a:xfrm>
            <a:off x="95554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20"/>
          <p:cNvSpPr/>
          <p:nvPr/>
        </p:nvSpPr>
        <p:spPr>
          <a:xfrm>
            <a:off x="100584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21"/>
          <p:cNvSpPr/>
          <p:nvPr/>
        </p:nvSpPr>
        <p:spPr>
          <a:xfrm>
            <a:off x="105613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22"/>
          <p:cNvSpPr/>
          <p:nvPr/>
        </p:nvSpPr>
        <p:spPr>
          <a:xfrm>
            <a:off x="110642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23"/>
          <p:cNvSpPr/>
          <p:nvPr/>
        </p:nvSpPr>
        <p:spPr>
          <a:xfrm>
            <a:off x="115671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24"/>
          <p:cNvSpPr/>
          <p:nvPr/>
        </p:nvSpPr>
        <p:spPr>
          <a:xfrm>
            <a:off x="120700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25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26"/>
          <p:cNvSpPr/>
          <p:nvPr/>
        </p:nvSpPr>
        <p:spPr>
          <a:xfrm>
            <a:off x="0" y="5029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27"/>
          <p:cNvSpPr/>
          <p:nvPr/>
        </p:nvSpPr>
        <p:spPr>
          <a:xfrm>
            <a:off x="0" y="10058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28"/>
          <p:cNvSpPr/>
          <p:nvPr/>
        </p:nvSpPr>
        <p:spPr>
          <a:xfrm>
            <a:off x="0" y="15087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29"/>
          <p:cNvSpPr/>
          <p:nvPr/>
        </p:nvSpPr>
        <p:spPr>
          <a:xfrm>
            <a:off x="0" y="201168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30"/>
          <p:cNvSpPr/>
          <p:nvPr/>
        </p:nvSpPr>
        <p:spPr>
          <a:xfrm>
            <a:off x="0" y="251460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31"/>
          <p:cNvSpPr/>
          <p:nvPr/>
        </p:nvSpPr>
        <p:spPr>
          <a:xfrm>
            <a:off x="0" y="30175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32"/>
          <p:cNvSpPr/>
          <p:nvPr/>
        </p:nvSpPr>
        <p:spPr>
          <a:xfrm>
            <a:off x="0" y="35204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33"/>
          <p:cNvSpPr/>
          <p:nvPr/>
        </p:nvSpPr>
        <p:spPr>
          <a:xfrm>
            <a:off x="0" y="40233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34"/>
          <p:cNvSpPr/>
          <p:nvPr/>
        </p:nvSpPr>
        <p:spPr>
          <a:xfrm>
            <a:off x="0" y="452628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35"/>
          <p:cNvSpPr/>
          <p:nvPr/>
        </p:nvSpPr>
        <p:spPr>
          <a:xfrm>
            <a:off x="0" y="502920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36"/>
          <p:cNvSpPr/>
          <p:nvPr/>
        </p:nvSpPr>
        <p:spPr>
          <a:xfrm>
            <a:off x="0" y="55321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37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38"/>
          <p:cNvSpPr/>
          <p:nvPr/>
        </p:nvSpPr>
        <p:spPr>
          <a:xfrm>
            <a:off x="0" y="65379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39"/>
          <p:cNvSpPr/>
          <p:nvPr/>
        </p:nvSpPr>
        <p:spPr>
          <a:xfrm>
            <a:off x="502920" y="292680"/>
            <a:ext cx="502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39" strike="noStrike" u="none">
                <a:solidFill>
                  <a:srgbClr val="35e6a3"/>
                </a:solidFill>
                <a:effectLst/>
                <a:uFillTx/>
                <a:latin typeface="Aptos"/>
                <a:ea typeface="Aptos"/>
              </a:rPr>
              <a:t>06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40"/>
          <p:cNvSpPr/>
          <p:nvPr/>
        </p:nvSpPr>
        <p:spPr>
          <a:xfrm>
            <a:off x="1078920" y="29268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59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IMPLEMENTATION STACK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41"/>
          <p:cNvSpPr/>
          <p:nvPr/>
        </p:nvSpPr>
        <p:spPr>
          <a:xfrm>
            <a:off x="502920" y="65844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Technologies &amp; Tools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42"/>
          <p:cNvSpPr/>
          <p:nvPr/>
        </p:nvSpPr>
        <p:spPr>
          <a:xfrm>
            <a:off x="502920" y="1298160"/>
            <a:ext cx="11155680" cy="360"/>
          </a:xfrm>
          <a:prstGeom prst="line">
            <a:avLst/>
          </a:prstGeom>
          <a:ln w="12700">
            <a:solidFill>
              <a:srgbClr val="1b3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43"/>
          <p:cNvSpPr/>
          <p:nvPr/>
        </p:nvSpPr>
        <p:spPr>
          <a:xfrm>
            <a:off x="502920" y="1298160"/>
            <a:ext cx="1234440" cy="360"/>
          </a:xfrm>
          <a:prstGeom prst="line">
            <a:avLst/>
          </a:prstGeom>
          <a:ln w="381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44"/>
          <p:cNvSpPr/>
          <p:nvPr/>
        </p:nvSpPr>
        <p:spPr>
          <a:xfrm>
            <a:off x="7955280" y="6519600"/>
            <a:ext cx="3702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99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AI STOCK PRICE PREDICTOR  /  LSTM + GRU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45"/>
          <p:cNvSpPr/>
          <p:nvPr/>
        </p:nvSpPr>
        <p:spPr>
          <a:xfrm>
            <a:off x="567000" y="1627560"/>
            <a:ext cx="3401280" cy="187416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46"/>
          <p:cNvSpPr/>
          <p:nvPr/>
        </p:nvSpPr>
        <p:spPr>
          <a:xfrm>
            <a:off x="567000" y="1627560"/>
            <a:ext cx="50040" cy="1874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47"/>
          <p:cNvSpPr/>
          <p:nvPr/>
        </p:nvSpPr>
        <p:spPr>
          <a:xfrm>
            <a:off x="768240" y="1792080"/>
            <a:ext cx="2998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11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PROGRAMMING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48"/>
          <p:cNvSpPr/>
          <p:nvPr/>
        </p:nvSpPr>
        <p:spPr>
          <a:xfrm>
            <a:off x="768240" y="2240280"/>
            <a:ext cx="1371240" cy="347040"/>
          </a:xfrm>
          <a:prstGeom prst="roundRect">
            <a:avLst>
              <a:gd name="adj" fmla="val 21053"/>
            </a:avLst>
          </a:prstGeom>
          <a:solidFill>
            <a:srgbClr val="22d3ee">
              <a:alpha val="18000"/>
            </a:srgbClr>
          </a:solidFill>
          <a:ln w="10160">
            <a:solidFill>
              <a:srgbClr val="22d3ee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49"/>
          <p:cNvSpPr/>
          <p:nvPr/>
        </p:nvSpPr>
        <p:spPr>
          <a:xfrm>
            <a:off x="841320" y="2322720"/>
            <a:ext cx="1225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Python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50"/>
          <p:cNvSpPr/>
          <p:nvPr/>
        </p:nvSpPr>
        <p:spPr>
          <a:xfrm>
            <a:off x="2203560" y="2240280"/>
            <a:ext cx="1371240" cy="347040"/>
          </a:xfrm>
          <a:prstGeom prst="roundRect">
            <a:avLst>
              <a:gd name="adj" fmla="val 21053"/>
            </a:avLst>
          </a:prstGeom>
          <a:solidFill>
            <a:srgbClr val="22d3ee">
              <a:alpha val="18000"/>
            </a:srgbClr>
          </a:solidFill>
          <a:ln w="10160">
            <a:solidFill>
              <a:srgbClr val="22d3ee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51"/>
          <p:cNvSpPr/>
          <p:nvPr/>
        </p:nvSpPr>
        <p:spPr>
          <a:xfrm>
            <a:off x="2277000" y="2322720"/>
            <a:ext cx="1225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JavaScript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52"/>
          <p:cNvSpPr/>
          <p:nvPr/>
        </p:nvSpPr>
        <p:spPr>
          <a:xfrm>
            <a:off x="768240" y="2743200"/>
            <a:ext cx="1371240" cy="347040"/>
          </a:xfrm>
          <a:prstGeom prst="roundRect">
            <a:avLst>
              <a:gd name="adj" fmla="val 21053"/>
            </a:avLst>
          </a:prstGeom>
          <a:solidFill>
            <a:srgbClr val="22d3ee">
              <a:alpha val="18000"/>
            </a:srgbClr>
          </a:solidFill>
          <a:ln w="10160">
            <a:solidFill>
              <a:srgbClr val="22d3ee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53"/>
          <p:cNvSpPr/>
          <p:nvPr/>
        </p:nvSpPr>
        <p:spPr>
          <a:xfrm>
            <a:off x="841320" y="2825640"/>
            <a:ext cx="1225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HTML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54"/>
          <p:cNvSpPr/>
          <p:nvPr/>
        </p:nvSpPr>
        <p:spPr>
          <a:xfrm>
            <a:off x="2203560" y="2743200"/>
            <a:ext cx="1371240" cy="347040"/>
          </a:xfrm>
          <a:prstGeom prst="roundRect">
            <a:avLst>
              <a:gd name="adj" fmla="val 21053"/>
            </a:avLst>
          </a:prstGeom>
          <a:solidFill>
            <a:srgbClr val="22d3ee">
              <a:alpha val="18000"/>
            </a:srgbClr>
          </a:solidFill>
          <a:ln w="10160">
            <a:solidFill>
              <a:srgbClr val="22d3ee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55"/>
          <p:cNvSpPr/>
          <p:nvPr/>
        </p:nvSpPr>
        <p:spPr>
          <a:xfrm>
            <a:off x="2277000" y="2825640"/>
            <a:ext cx="1225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CSS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56"/>
          <p:cNvSpPr/>
          <p:nvPr/>
        </p:nvSpPr>
        <p:spPr>
          <a:xfrm>
            <a:off x="4160520" y="1627560"/>
            <a:ext cx="3401280" cy="187416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57"/>
          <p:cNvSpPr/>
          <p:nvPr/>
        </p:nvSpPr>
        <p:spPr>
          <a:xfrm>
            <a:off x="4160520" y="1627560"/>
            <a:ext cx="50040" cy="1874160"/>
          </a:xfrm>
          <a:prstGeom prst="rect">
            <a:avLst/>
          </a:prstGeom>
          <a:solidFill>
            <a:srgbClr val="35e6a3"/>
          </a:solidFill>
          <a:ln w="12700">
            <a:solidFill>
              <a:srgbClr val="35e6a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58"/>
          <p:cNvSpPr/>
          <p:nvPr/>
        </p:nvSpPr>
        <p:spPr>
          <a:xfrm>
            <a:off x="4361760" y="1792080"/>
            <a:ext cx="2998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11" strike="noStrike" u="none">
                <a:solidFill>
                  <a:srgbClr val="35e6a3"/>
                </a:solidFill>
                <a:effectLst/>
                <a:uFillTx/>
                <a:latin typeface="Aptos"/>
              </a:rPr>
              <a:t>ML / DEEP LEARNING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59"/>
          <p:cNvSpPr/>
          <p:nvPr/>
        </p:nvSpPr>
        <p:spPr>
          <a:xfrm>
            <a:off x="4361760" y="2240280"/>
            <a:ext cx="1371240" cy="347040"/>
          </a:xfrm>
          <a:prstGeom prst="roundRect">
            <a:avLst>
              <a:gd name="adj" fmla="val 21053"/>
            </a:avLst>
          </a:prstGeom>
          <a:solidFill>
            <a:srgbClr val="35e6a3">
              <a:alpha val="18000"/>
            </a:srgbClr>
          </a:solidFill>
          <a:ln w="10160">
            <a:solidFill>
              <a:srgbClr val="35e6a3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60"/>
          <p:cNvSpPr/>
          <p:nvPr/>
        </p:nvSpPr>
        <p:spPr>
          <a:xfrm>
            <a:off x="4434840" y="2322720"/>
            <a:ext cx="1225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35e6a3"/>
                </a:solidFill>
                <a:effectLst/>
                <a:uFillTx/>
                <a:latin typeface="Aptos"/>
              </a:rPr>
              <a:t>TensorFlow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61"/>
          <p:cNvSpPr/>
          <p:nvPr/>
        </p:nvSpPr>
        <p:spPr>
          <a:xfrm>
            <a:off x="5797440" y="2240280"/>
            <a:ext cx="1371240" cy="347040"/>
          </a:xfrm>
          <a:prstGeom prst="roundRect">
            <a:avLst>
              <a:gd name="adj" fmla="val 21053"/>
            </a:avLst>
          </a:prstGeom>
          <a:solidFill>
            <a:srgbClr val="35e6a3">
              <a:alpha val="18000"/>
            </a:srgbClr>
          </a:solidFill>
          <a:ln w="10160">
            <a:solidFill>
              <a:srgbClr val="35e6a3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62"/>
          <p:cNvSpPr/>
          <p:nvPr/>
        </p:nvSpPr>
        <p:spPr>
          <a:xfrm>
            <a:off x="5870520" y="2322720"/>
            <a:ext cx="1225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35e6a3"/>
                </a:solidFill>
                <a:effectLst/>
                <a:uFillTx/>
                <a:latin typeface="Aptos"/>
              </a:rPr>
              <a:t>Keras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63"/>
          <p:cNvSpPr/>
          <p:nvPr/>
        </p:nvSpPr>
        <p:spPr>
          <a:xfrm>
            <a:off x="4361760" y="2743200"/>
            <a:ext cx="1371240" cy="347040"/>
          </a:xfrm>
          <a:prstGeom prst="roundRect">
            <a:avLst>
              <a:gd name="adj" fmla="val 21053"/>
            </a:avLst>
          </a:prstGeom>
          <a:solidFill>
            <a:srgbClr val="35e6a3">
              <a:alpha val="18000"/>
            </a:srgbClr>
          </a:solidFill>
          <a:ln w="10160">
            <a:solidFill>
              <a:srgbClr val="35e6a3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64"/>
          <p:cNvSpPr/>
          <p:nvPr/>
        </p:nvSpPr>
        <p:spPr>
          <a:xfrm>
            <a:off x="4434840" y="2825640"/>
            <a:ext cx="1225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35e6a3"/>
                </a:solidFill>
                <a:effectLst/>
                <a:uFillTx/>
                <a:latin typeface="Aptos"/>
              </a:rPr>
              <a:t>Scikit-learn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65"/>
          <p:cNvSpPr/>
          <p:nvPr/>
        </p:nvSpPr>
        <p:spPr>
          <a:xfrm>
            <a:off x="7754040" y="1627560"/>
            <a:ext cx="3858480" cy="187416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66"/>
          <p:cNvSpPr/>
          <p:nvPr/>
        </p:nvSpPr>
        <p:spPr>
          <a:xfrm>
            <a:off x="7754040" y="1627560"/>
            <a:ext cx="50040" cy="18741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67"/>
          <p:cNvSpPr/>
          <p:nvPr/>
        </p:nvSpPr>
        <p:spPr>
          <a:xfrm>
            <a:off x="7955280" y="1792080"/>
            <a:ext cx="3456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11" strike="noStrike" u="none">
                <a:solidFill>
                  <a:srgbClr val="38bdf8"/>
                </a:solidFill>
                <a:effectLst/>
                <a:uFillTx/>
                <a:latin typeface="Aptos"/>
              </a:rPr>
              <a:t>BACKEND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68"/>
          <p:cNvSpPr/>
          <p:nvPr/>
        </p:nvSpPr>
        <p:spPr>
          <a:xfrm>
            <a:off x="7955280" y="2240280"/>
            <a:ext cx="1599840" cy="347040"/>
          </a:xfrm>
          <a:prstGeom prst="roundRect">
            <a:avLst>
              <a:gd name="adj" fmla="val 21053"/>
            </a:avLst>
          </a:prstGeom>
          <a:solidFill>
            <a:srgbClr val="38bdf8">
              <a:alpha val="18000"/>
            </a:srgbClr>
          </a:solidFill>
          <a:ln w="10160">
            <a:solidFill>
              <a:srgbClr val="38bdf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69"/>
          <p:cNvSpPr/>
          <p:nvPr/>
        </p:nvSpPr>
        <p:spPr>
          <a:xfrm>
            <a:off x="8028360" y="2322720"/>
            <a:ext cx="1453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38bdf8"/>
                </a:solidFill>
                <a:effectLst/>
                <a:uFillTx/>
                <a:latin typeface="Aptos"/>
              </a:rPr>
              <a:t>Flask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70"/>
          <p:cNvSpPr/>
          <p:nvPr/>
        </p:nvSpPr>
        <p:spPr>
          <a:xfrm>
            <a:off x="9619560" y="2240280"/>
            <a:ext cx="1599840" cy="347040"/>
          </a:xfrm>
          <a:prstGeom prst="roundRect">
            <a:avLst>
              <a:gd name="adj" fmla="val 21053"/>
            </a:avLst>
          </a:prstGeom>
          <a:solidFill>
            <a:srgbClr val="38bdf8">
              <a:alpha val="18000"/>
            </a:srgbClr>
          </a:solidFill>
          <a:ln w="10160">
            <a:solidFill>
              <a:srgbClr val="38bdf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71"/>
          <p:cNvSpPr/>
          <p:nvPr/>
        </p:nvSpPr>
        <p:spPr>
          <a:xfrm>
            <a:off x="9692640" y="2322720"/>
            <a:ext cx="1453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38bdf8"/>
                </a:solidFill>
                <a:effectLst/>
                <a:uFillTx/>
                <a:latin typeface="Aptos"/>
              </a:rPr>
              <a:t>Flask-CORS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72"/>
          <p:cNvSpPr/>
          <p:nvPr/>
        </p:nvSpPr>
        <p:spPr>
          <a:xfrm>
            <a:off x="7955280" y="2743200"/>
            <a:ext cx="1599840" cy="347040"/>
          </a:xfrm>
          <a:prstGeom prst="roundRect">
            <a:avLst>
              <a:gd name="adj" fmla="val 21053"/>
            </a:avLst>
          </a:prstGeom>
          <a:solidFill>
            <a:srgbClr val="38bdf8">
              <a:alpha val="18000"/>
            </a:srgbClr>
          </a:solidFill>
          <a:ln w="10160">
            <a:solidFill>
              <a:srgbClr val="38bdf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73"/>
          <p:cNvSpPr/>
          <p:nvPr/>
        </p:nvSpPr>
        <p:spPr>
          <a:xfrm>
            <a:off x="8028360" y="2825640"/>
            <a:ext cx="1453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38bdf8"/>
                </a:solidFill>
                <a:effectLst/>
                <a:uFillTx/>
                <a:latin typeface="Aptos"/>
              </a:rPr>
              <a:t>REST API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74"/>
          <p:cNvSpPr/>
          <p:nvPr/>
        </p:nvSpPr>
        <p:spPr>
          <a:xfrm>
            <a:off x="1600200" y="3794760"/>
            <a:ext cx="3885840" cy="155412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75"/>
          <p:cNvSpPr/>
          <p:nvPr/>
        </p:nvSpPr>
        <p:spPr>
          <a:xfrm>
            <a:off x="1600200" y="3794760"/>
            <a:ext cx="50040" cy="15541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76"/>
          <p:cNvSpPr/>
          <p:nvPr/>
        </p:nvSpPr>
        <p:spPr>
          <a:xfrm>
            <a:off x="1801440" y="3959280"/>
            <a:ext cx="3483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11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DATA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77"/>
          <p:cNvSpPr/>
          <p:nvPr/>
        </p:nvSpPr>
        <p:spPr>
          <a:xfrm>
            <a:off x="1801440" y="4407480"/>
            <a:ext cx="1613520" cy="347040"/>
          </a:xfrm>
          <a:prstGeom prst="roundRect">
            <a:avLst>
              <a:gd name="adj" fmla="val 21053"/>
            </a:avLst>
          </a:prstGeom>
          <a:solidFill>
            <a:srgbClr val="22d3ee">
              <a:alpha val="18000"/>
            </a:srgbClr>
          </a:solidFill>
          <a:ln w="10160">
            <a:solidFill>
              <a:srgbClr val="22d3ee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78"/>
          <p:cNvSpPr/>
          <p:nvPr/>
        </p:nvSpPr>
        <p:spPr>
          <a:xfrm>
            <a:off x="1874520" y="4489560"/>
            <a:ext cx="1467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Pandas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79"/>
          <p:cNvSpPr/>
          <p:nvPr/>
        </p:nvSpPr>
        <p:spPr>
          <a:xfrm>
            <a:off x="3479400" y="4407480"/>
            <a:ext cx="1613520" cy="347040"/>
          </a:xfrm>
          <a:prstGeom prst="roundRect">
            <a:avLst>
              <a:gd name="adj" fmla="val 21053"/>
            </a:avLst>
          </a:prstGeom>
          <a:solidFill>
            <a:srgbClr val="22d3ee">
              <a:alpha val="18000"/>
            </a:srgbClr>
          </a:solidFill>
          <a:ln w="10160">
            <a:solidFill>
              <a:srgbClr val="22d3ee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80"/>
          <p:cNvSpPr/>
          <p:nvPr/>
        </p:nvSpPr>
        <p:spPr>
          <a:xfrm>
            <a:off x="3552480" y="4489560"/>
            <a:ext cx="1467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NumPy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81"/>
          <p:cNvSpPr/>
          <p:nvPr/>
        </p:nvSpPr>
        <p:spPr>
          <a:xfrm>
            <a:off x="1801440" y="4910400"/>
            <a:ext cx="1613520" cy="347040"/>
          </a:xfrm>
          <a:prstGeom prst="roundRect">
            <a:avLst>
              <a:gd name="adj" fmla="val 21053"/>
            </a:avLst>
          </a:prstGeom>
          <a:solidFill>
            <a:srgbClr val="22d3ee">
              <a:alpha val="18000"/>
            </a:srgbClr>
          </a:solidFill>
          <a:ln w="10160">
            <a:solidFill>
              <a:srgbClr val="22d3ee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82"/>
          <p:cNvSpPr/>
          <p:nvPr/>
        </p:nvSpPr>
        <p:spPr>
          <a:xfrm>
            <a:off x="1874520" y="4992480"/>
            <a:ext cx="1467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yfinance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83"/>
          <p:cNvSpPr/>
          <p:nvPr/>
        </p:nvSpPr>
        <p:spPr>
          <a:xfrm>
            <a:off x="5806440" y="3794760"/>
            <a:ext cx="4663080" cy="155412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84"/>
          <p:cNvSpPr/>
          <p:nvPr/>
        </p:nvSpPr>
        <p:spPr>
          <a:xfrm>
            <a:off x="5806440" y="3794760"/>
            <a:ext cx="50040" cy="1554120"/>
          </a:xfrm>
          <a:prstGeom prst="rect">
            <a:avLst/>
          </a:prstGeom>
          <a:solidFill>
            <a:srgbClr val="35e6a3"/>
          </a:solidFill>
          <a:ln w="12700">
            <a:solidFill>
              <a:srgbClr val="35e6a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85"/>
          <p:cNvSpPr/>
          <p:nvPr/>
        </p:nvSpPr>
        <p:spPr>
          <a:xfrm>
            <a:off x="6007680" y="3959280"/>
            <a:ext cx="4260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11" strike="noStrike" u="none">
                <a:solidFill>
                  <a:srgbClr val="35e6a3"/>
                </a:solidFill>
                <a:effectLst/>
                <a:uFillTx/>
                <a:latin typeface="Aptos"/>
              </a:rPr>
              <a:t>VISUALIZATION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86"/>
          <p:cNvSpPr/>
          <p:nvPr/>
        </p:nvSpPr>
        <p:spPr>
          <a:xfrm>
            <a:off x="6007680" y="4407480"/>
            <a:ext cx="2002320" cy="347040"/>
          </a:xfrm>
          <a:prstGeom prst="roundRect">
            <a:avLst>
              <a:gd name="adj" fmla="val 21053"/>
            </a:avLst>
          </a:prstGeom>
          <a:solidFill>
            <a:srgbClr val="35e6a3">
              <a:alpha val="18000"/>
            </a:srgbClr>
          </a:solidFill>
          <a:ln w="10160">
            <a:solidFill>
              <a:srgbClr val="35e6a3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87"/>
          <p:cNvSpPr/>
          <p:nvPr/>
        </p:nvSpPr>
        <p:spPr>
          <a:xfrm>
            <a:off x="6080760" y="4489560"/>
            <a:ext cx="18558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35e6a3"/>
                </a:solidFill>
                <a:effectLst/>
                <a:uFillTx/>
                <a:latin typeface="Aptos"/>
              </a:rPr>
              <a:t>Plotly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88"/>
          <p:cNvSpPr/>
          <p:nvPr/>
        </p:nvSpPr>
        <p:spPr>
          <a:xfrm>
            <a:off x="8074080" y="4407480"/>
            <a:ext cx="2002320" cy="347040"/>
          </a:xfrm>
          <a:prstGeom prst="roundRect">
            <a:avLst>
              <a:gd name="adj" fmla="val 21053"/>
            </a:avLst>
          </a:prstGeom>
          <a:solidFill>
            <a:srgbClr val="35e6a3">
              <a:alpha val="18000"/>
            </a:srgbClr>
          </a:solidFill>
          <a:ln w="10160">
            <a:solidFill>
              <a:srgbClr val="35e6a3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89"/>
          <p:cNvSpPr/>
          <p:nvPr/>
        </p:nvSpPr>
        <p:spPr>
          <a:xfrm>
            <a:off x="8147160" y="4489560"/>
            <a:ext cx="18558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35e6a3"/>
                </a:solidFill>
                <a:effectLst/>
                <a:uFillTx/>
                <a:latin typeface="Aptos"/>
              </a:rPr>
              <a:t>Responsive web dashboard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90"/>
          <p:cNvSpPr/>
          <p:nvPr/>
        </p:nvSpPr>
        <p:spPr>
          <a:xfrm>
            <a:off x="2011680" y="5742360"/>
            <a:ext cx="8183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Browser UI  ⇄  Flask REST API  ⇄  Python ML pipeline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1"/>
          <p:cNvSpPr/>
          <p:nvPr/>
        </p:nvSpPr>
        <p:spPr>
          <a:xfrm>
            <a:off x="5029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2"/>
          <p:cNvSpPr/>
          <p:nvPr/>
        </p:nvSpPr>
        <p:spPr>
          <a:xfrm>
            <a:off x="10058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3"/>
          <p:cNvSpPr/>
          <p:nvPr/>
        </p:nvSpPr>
        <p:spPr>
          <a:xfrm>
            <a:off x="15087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4"/>
          <p:cNvSpPr/>
          <p:nvPr/>
        </p:nvSpPr>
        <p:spPr>
          <a:xfrm>
            <a:off x="20116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5"/>
          <p:cNvSpPr/>
          <p:nvPr/>
        </p:nvSpPr>
        <p:spPr>
          <a:xfrm>
            <a:off x="25146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6"/>
          <p:cNvSpPr/>
          <p:nvPr/>
        </p:nvSpPr>
        <p:spPr>
          <a:xfrm>
            <a:off x="30175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7"/>
          <p:cNvSpPr/>
          <p:nvPr/>
        </p:nvSpPr>
        <p:spPr>
          <a:xfrm>
            <a:off x="35204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8"/>
          <p:cNvSpPr/>
          <p:nvPr/>
        </p:nvSpPr>
        <p:spPr>
          <a:xfrm>
            <a:off x="40233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9"/>
          <p:cNvSpPr/>
          <p:nvPr/>
        </p:nvSpPr>
        <p:spPr>
          <a:xfrm>
            <a:off x="45262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10"/>
          <p:cNvSpPr/>
          <p:nvPr/>
        </p:nvSpPr>
        <p:spPr>
          <a:xfrm>
            <a:off x="50292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11"/>
          <p:cNvSpPr/>
          <p:nvPr/>
        </p:nvSpPr>
        <p:spPr>
          <a:xfrm>
            <a:off x="55321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12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13"/>
          <p:cNvSpPr/>
          <p:nvPr/>
        </p:nvSpPr>
        <p:spPr>
          <a:xfrm>
            <a:off x="65379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14"/>
          <p:cNvSpPr/>
          <p:nvPr/>
        </p:nvSpPr>
        <p:spPr>
          <a:xfrm>
            <a:off x="70408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15"/>
          <p:cNvSpPr/>
          <p:nvPr/>
        </p:nvSpPr>
        <p:spPr>
          <a:xfrm>
            <a:off x="75438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16"/>
          <p:cNvSpPr/>
          <p:nvPr/>
        </p:nvSpPr>
        <p:spPr>
          <a:xfrm>
            <a:off x="80467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17"/>
          <p:cNvSpPr/>
          <p:nvPr/>
        </p:nvSpPr>
        <p:spPr>
          <a:xfrm>
            <a:off x="85496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18"/>
          <p:cNvSpPr/>
          <p:nvPr/>
        </p:nvSpPr>
        <p:spPr>
          <a:xfrm>
            <a:off x="90525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19"/>
          <p:cNvSpPr/>
          <p:nvPr/>
        </p:nvSpPr>
        <p:spPr>
          <a:xfrm>
            <a:off x="95554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20"/>
          <p:cNvSpPr/>
          <p:nvPr/>
        </p:nvSpPr>
        <p:spPr>
          <a:xfrm>
            <a:off x="100584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21"/>
          <p:cNvSpPr/>
          <p:nvPr/>
        </p:nvSpPr>
        <p:spPr>
          <a:xfrm>
            <a:off x="105613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22"/>
          <p:cNvSpPr/>
          <p:nvPr/>
        </p:nvSpPr>
        <p:spPr>
          <a:xfrm>
            <a:off x="110642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23"/>
          <p:cNvSpPr/>
          <p:nvPr/>
        </p:nvSpPr>
        <p:spPr>
          <a:xfrm>
            <a:off x="115671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24"/>
          <p:cNvSpPr/>
          <p:nvPr/>
        </p:nvSpPr>
        <p:spPr>
          <a:xfrm>
            <a:off x="120700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25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26"/>
          <p:cNvSpPr/>
          <p:nvPr/>
        </p:nvSpPr>
        <p:spPr>
          <a:xfrm>
            <a:off x="0" y="5029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27"/>
          <p:cNvSpPr/>
          <p:nvPr/>
        </p:nvSpPr>
        <p:spPr>
          <a:xfrm>
            <a:off x="0" y="10058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28"/>
          <p:cNvSpPr/>
          <p:nvPr/>
        </p:nvSpPr>
        <p:spPr>
          <a:xfrm>
            <a:off x="0" y="15087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29"/>
          <p:cNvSpPr/>
          <p:nvPr/>
        </p:nvSpPr>
        <p:spPr>
          <a:xfrm>
            <a:off x="0" y="201168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30"/>
          <p:cNvSpPr/>
          <p:nvPr/>
        </p:nvSpPr>
        <p:spPr>
          <a:xfrm>
            <a:off x="0" y="251460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31"/>
          <p:cNvSpPr/>
          <p:nvPr/>
        </p:nvSpPr>
        <p:spPr>
          <a:xfrm>
            <a:off x="0" y="30175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32"/>
          <p:cNvSpPr/>
          <p:nvPr/>
        </p:nvSpPr>
        <p:spPr>
          <a:xfrm>
            <a:off x="0" y="35204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33"/>
          <p:cNvSpPr/>
          <p:nvPr/>
        </p:nvSpPr>
        <p:spPr>
          <a:xfrm>
            <a:off x="0" y="40233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34"/>
          <p:cNvSpPr/>
          <p:nvPr/>
        </p:nvSpPr>
        <p:spPr>
          <a:xfrm>
            <a:off x="0" y="452628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35"/>
          <p:cNvSpPr/>
          <p:nvPr/>
        </p:nvSpPr>
        <p:spPr>
          <a:xfrm>
            <a:off x="0" y="502920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36"/>
          <p:cNvSpPr/>
          <p:nvPr/>
        </p:nvSpPr>
        <p:spPr>
          <a:xfrm>
            <a:off x="0" y="55321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37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38"/>
          <p:cNvSpPr/>
          <p:nvPr/>
        </p:nvSpPr>
        <p:spPr>
          <a:xfrm>
            <a:off x="0" y="65379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39"/>
          <p:cNvSpPr/>
          <p:nvPr/>
        </p:nvSpPr>
        <p:spPr>
          <a:xfrm>
            <a:off x="502920" y="292680"/>
            <a:ext cx="502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39" strike="noStrike" u="none">
                <a:solidFill>
                  <a:srgbClr val="35e6a3"/>
                </a:solidFill>
                <a:effectLst/>
                <a:uFillTx/>
                <a:latin typeface="Aptos"/>
                <a:ea typeface="Aptos"/>
              </a:rPr>
              <a:t>07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40"/>
          <p:cNvSpPr/>
          <p:nvPr/>
        </p:nvSpPr>
        <p:spPr>
          <a:xfrm>
            <a:off x="1078920" y="29268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59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HISTORICAL MARKET OBSERVATIONS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41"/>
          <p:cNvSpPr/>
          <p:nvPr/>
        </p:nvSpPr>
        <p:spPr>
          <a:xfrm>
            <a:off x="502920" y="65844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Dataset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42"/>
          <p:cNvSpPr/>
          <p:nvPr/>
        </p:nvSpPr>
        <p:spPr>
          <a:xfrm>
            <a:off x="502920" y="1298160"/>
            <a:ext cx="11155680" cy="360"/>
          </a:xfrm>
          <a:prstGeom prst="line">
            <a:avLst/>
          </a:prstGeom>
          <a:ln w="12700">
            <a:solidFill>
              <a:srgbClr val="1b3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43"/>
          <p:cNvSpPr/>
          <p:nvPr/>
        </p:nvSpPr>
        <p:spPr>
          <a:xfrm>
            <a:off x="502920" y="1298160"/>
            <a:ext cx="1234440" cy="360"/>
          </a:xfrm>
          <a:prstGeom prst="line">
            <a:avLst/>
          </a:prstGeom>
          <a:ln w="381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44"/>
          <p:cNvSpPr/>
          <p:nvPr/>
        </p:nvSpPr>
        <p:spPr>
          <a:xfrm>
            <a:off x="7955280" y="6519600"/>
            <a:ext cx="3702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99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AI STOCK PRICE PREDICTOR  /  LSTM + GRU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45"/>
          <p:cNvSpPr/>
          <p:nvPr/>
        </p:nvSpPr>
        <p:spPr>
          <a:xfrm>
            <a:off x="567000" y="162756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OHLCV schema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76" name="Table 0"/>
          <p:cNvGraphicFramePr/>
          <p:nvPr/>
        </p:nvGraphicFramePr>
        <p:xfrm>
          <a:off x="567000" y="2459880"/>
          <a:ext cx="6738840" cy="1371600"/>
        </p:xfrm>
        <a:graphic>
          <a:graphicData uri="http://schemas.openxmlformats.org/drawingml/2006/table">
            <a:tbl>
              <a:tblPr/>
              <a:tblGrid>
                <a:gridCol w="1389600"/>
                <a:gridCol w="960120"/>
                <a:gridCol w="960120"/>
                <a:gridCol w="960120"/>
                <a:gridCol w="1051560"/>
                <a:gridCol w="1417320"/>
              </a:tblGrid>
              <a:tr h="457200">
                <a:tc>
                  <a:txBody>
                    <a:bodyPr lIns="73080" rIns="73080" tIns="73080" bIns="73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9e7f2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2026-01-05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8640">
                      <a:solidFill>
                        <a:srgbClr val="1b3a52"/>
                      </a:solidFill>
                      <a:prstDash val="solid"/>
                    </a:lnL>
                    <a:lnR w="8640">
                      <a:solidFill>
                        <a:srgbClr val="1b3a52"/>
                      </a:solidFill>
                      <a:prstDash val="solid"/>
                    </a:lnR>
                    <a:lnT w="8640">
                      <a:solidFill>
                        <a:srgbClr val="1b3a52"/>
                      </a:solidFill>
                      <a:prstDash val="solid"/>
                    </a:lnT>
                    <a:lnB w="8640">
                      <a:solidFill>
                        <a:srgbClr val="1b3a52"/>
                      </a:solidFill>
                      <a:prstDash val="solid"/>
                    </a:lnB>
                    <a:solidFill>
                      <a:srgbClr val="0c1d30"/>
                    </a:solidFill>
                  </a:tcPr>
                </a:tc>
                <a:tc>
                  <a:txBody>
                    <a:bodyPr lIns="73080" rIns="73080" tIns="73080" bIns="73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9e7f2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8640">
                      <a:solidFill>
                        <a:srgbClr val="1b3a52"/>
                      </a:solidFill>
                      <a:prstDash val="solid"/>
                    </a:lnL>
                    <a:lnR w="8640">
                      <a:solidFill>
                        <a:srgbClr val="1b3a52"/>
                      </a:solidFill>
                      <a:prstDash val="solid"/>
                    </a:lnR>
                    <a:lnT w="8640">
                      <a:solidFill>
                        <a:srgbClr val="1b3a52"/>
                      </a:solidFill>
                      <a:prstDash val="solid"/>
                    </a:lnT>
                    <a:lnB w="8640">
                      <a:solidFill>
                        <a:srgbClr val="1b3a52"/>
                      </a:solidFill>
                      <a:prstDash val="solid"/>
                    </a:lnB>
                    <a:solidFill>
                      <a:srgbClr val="0c1d30"/>
                    </a:solidFill>
                  </a:tcPr>
                </a:tc>
                <a:tc>
                  <a:txBody>
                    <a:bodyPr lIns="73080" rIns="73080" tIns="73080" bIns="73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9e7f2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8640">
                      <a:solidFill>
                        <a:srgbClr val="1b3a52"/>
                      </a:solidFill>
                      <a:prstDash val="solid"/>
                    </a:lnL>
                    <a:lnR w="8640">
                      <a:solidFill>
                        <a:srgbClr val="1b3a52"/>
                      </a:solidFill>
                      <a:prstDash val="solid"/>
                    </a:lnR>
                    <a:lnT w="8640">
                      <a:solidFill>
                        <a:srgbClr val="1b3a52"/>
                      </a:solidFill>
                      <a:prstDash val="solid"/>
                    </a:lnT>
                    <a:lnB w="8640">
                      <a:solidFill>
                        <a:srgbClr val="1b3a52"/>
                      </a:solidFill>
                      <a:prstDash val="solid"/>
                    </a:lnB>
                    <a:solidFill>
                      <a:srgbClr val="0c1d30"/>
                    </a:solidFill>
                  </a:tcPr>
                </a:tc>
                <a:tc>
                  <a:txBody>
                    <a:bodyPr lIns="73080" rIns="73080" tIns="73080" bIns="73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9e7f2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8640">
                      <a:solidFill>
                        <a:srgbClr val="1b3a52"/>
                      </a:solidFill>
                      <a:prstDash val="solid"/>
                    </a:lnL>
                    <a:lnR w="8640">
                      <a:solidFill>
                        <a:srgbClr val="1b3a52"/>
                      </a:solidFill>
                      <a:prstDash val="solid"/>
                    </a:lnR>
                    <a:lnT w="8640">
                      <a:solidFill>
                        <a:srgbClr val="1b3a52"/>
                      </a:solidFill>
                      <a:prstDash val="solid"/>
                    </a:lnT>
                    <a:lnB w="8640">
                      <a:solidFill>
                        <a:srgbClr val="1b3a52"/>
                      </a:solidFill>
                      <a:prstDash val="solid"/>
                    </a:lnB>
                    <a:solidFill>
                      <a:srgbClr val="0c1d30"/>
                    </a:solidFill>
                  </a:tcPr>
                </a:tc>
                <a:tc>
                  <a:txBody>
                    <a:bodyPr lIns="73080" rIns="73080" tIns="73080" bIns="73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9e7f2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8640">
                      <a:solidFill>
                        <a:srgbClr val="1b3a52"/>
                      </a:solidFill>
                      <a:prstDash val="solid"/>
                    </a:lnL>
                    <a:lnR w="8640">
                      <a:solidFill>
                        <a:srgbClr val="1b3a52"/>
                      </a:solidFill>
                      <a:prstDash val="solid"/>
                    </a:lnR>
                    <a:lnT w="8640">
                      <a:solidFill>
                        <a:srgbClr val="1b3a52"/>
                      </a:solidFill>
                      <a:prstDash val="solid"/>
                    </a:lnT>
                    <a:lnB w="8640">
                      <a:solidFill>
                        <a:srgbClr val="1b3a52"/>
                      </a:solidFill>
                      <a:prstDash val="solid"/>
                    </a:lnB>
                    <a:solidFill>
                      <a:srgbClr val="0c1d30"/>
                    </a:solidFill>
                  </a:tcPr>
                </a:tc>
                <a:tc>
                  <a:txBody>
                    <a:bodyPr lIns="73080" rIns="73080" tIns="73080" bIns="73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9e7f2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8640">
                      <a:solidFill>
                        <a:srgbClr val="1b3a52"/>
                      </a:solidFill>
                      <a:prstDash val="solid"/>
                    </a:lnL>
                    <a:lnR w="8640">
                      <a:solidFill>
                        <a:srgbClr val="1b3a52"/>
                      </a:solidFill>
                      <a:prstDash val="solid"/>
                    </a:lnR>
                    <a:lnT w="8640">
                      <a:solidFill>
                        <a:srgbClr val="1b3a52"/>
                      </a:solidFill>
                      <a:prstDash val="solid"/>
                    </a:lnT>
                    <a:lnB w="8640">
                      <a:solidFill>
                        <a:srgbClr val="1b3a52"/>
                      </a:solidFill>
                      <a:prstDash val="solid"/>
                    </a:lnB>
                    <a:solidFill>
                      <a:srgbClr val="0c1d30"/>
                    </a:solidFill>
                  </a:tcPr>
                </a:tc>
              </a:tr>
              <a:tr h="457200">
                <a:tc>
                  <a:txBody>
                    <a:bodyPr lIns="73080" rIns="73080" tIns="73080" bIns="73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9e7f2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2026-01-06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8640">
                      <a:solidFill>
                        <a:srgbClr val="1b3a52"/>
                      </a:solidFill>
                      <a:prstDash val="solid"/>
                    </a:lnL>
                    <a:lnR w="8640">
                      <a:solidFill>
                        <a:srgbClr val="1b3a52"/>
                      </a:solidFill>
                      <a:prstDash val="solid"/>
                    </a:lnR>
                    <a:lnT w="8640">
                      <a:solidFill>
                        <a:srgbClr val="1b3a52"/>
                      </a:solidFill>
                      <a:prstDash val="solid"/>
                    </a:lnT>
                    <a:lnB w="8640">
                      <a:solidFill>
                        <a:srgbClr val="1b3a52"/>
                      </a:solidFill>
                      <a:prstDash val="solid"/>
                    </a:lnB>
                    <a:solidFill>
                      <a:srgbClr val="0c1d30"/>
                    </a:solidFill>
                  </a:tcPr>
                </a:tc>
                <a:tc>
                  <a:txBody>
                    <a:bodyPr lIns="73080" rIns="73080" tIns="73080" bIns="73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9e7f2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8640">
                      <a:solidFill>
                        <a:srgbClr val="1b3a52"/>
                      </a:solidFill>
                      <a:prstDash val="solid"/>
                    </a:lnL>
                    <a:lnR w="8640">
                      <a:solidFill>
                        <a:srgbClr val="1b3a52"/>
                      </a:solidFill>
                      <a:prstDash val="solid"/>
                    </a:lnR>
                    <a:lnT w="8640">
                      <a:solidFill>
                        <a:srgbClr val="1b3a52"/>
                      </a:solidFill>
                      <a:prstDash val="solid"/>
                    </a:lnT>
                    <a:lnB w="8640">
                      <a:solidFill>
                        <a:srgbClr val="1b3a52"/>
                      </a:solidFill>
                      <a:prstDash val="solid"/>
                    </a:lnB>
                    <a:solidFill>
                      <a:srgbClr val="0c1d30"/>
                    </a:solidFill>
                  </a:tcPr>
                </a:tc>
                <a:tc>
                  <a:txBody>
                    <a:bodyPr lIns="73080" rIns="73080" tIns="73080" bIns="73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9e7f2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8640">
                      <a:solidFill>
                        <a:srgbClr val="1b3a52"/>
                      </a:solidFill>
                      <a:prstDash val="solid"/>
                    </a:lnL>
                    <a:lnR w="8640">
                      <a:solidFill>
                        <a:srgbClr val="1b3a52"/>
                      </a:solidFill>
                      <a:prstDash val="solid"/>
                    </a:lnR>
                    <a:lnT w="8640">
                      <a:solidFill>
                        <a:srgbClr val="1b3a52"/>
                      </a:solidFill>
                      <a:prstDash val="solid"/>
                    </a:lnT>
                    <a:lnB w="8640">
                      <a:solidFill>
                        <a:srgbClr val="1b3a52"/>
                      </a:solidFill>
                      <a:prstDash val="solid"/>
                    </a:lnB>
                    <a:solidFill>
                      <a:srgbClr val="0c1d30"/>
                    </a:solidFill>
                  </a:tcPr>
                </a:tc>
                <a:tc>
                  <a:txBody>
                    <a:bodyPr lIns="73080" rIns="73080" tIns="73080" bIns="73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9e7f2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8640">
                      <a:solidFill>
                        <a:srgbClr val="1b3a52"/>
                      </a:solidFill>
                      <a:prstDash val="solid"/>
                    </a:lnL>
                    <a:lnR w="8640">
                      <a:solidFill>
                        <a:srgbClr val="1b3a52"/>
                      </a:solidFill>
                      <a:prstDash val="solid"/>
                    </a:lnR>
                    <a:lnT w="8640">
                      <a:solidFill>
                        <a:srgbClr val="1b3a52"/>
                      </a:solidFill>
                      <a:prstDash val="solid"/>
                    </a:lnT>
                    <a:lnB w="8640">
                      <a:solidFill>
                        <a:srgbClr val="1b3a52"/>
                      </a:solidFill>
                      <a:prstDash val="solid"/>
                    </a:lnB>
                    <a:solidFill>
                      <a:srgbClr val="0c1d30"/>
                    </a:solidFill>
                  </a:tcPr>
                </a:tc>
                <a:tc>
                  <a:txBody>
                    <a:bodyPr lIns="73080" rIns="73080" tIns="73080" bIns="73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9e7f2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8640">
                      <a:solidFill>
                        <a:srgbClr val="1b3a52"/>
                      </a:solidFill>
                      <a:prstDash val="solid"/>
                    </a:lnL>
                    <a:lnR w="8640">
                      <a:solidFill>
                        <a:srgbClr val="1b3a52"/>
                      </a:solidFill>
                      <a:prstDash val="solid"/>
                    </a:lnR>
                    <a:lnT w="8640">
                      <a:solidFill>
                        <a:srgbClr val="1b3a52"/>
                      </a:solidFill>
                      <a:prstDash val="solid"/>
                    </a:lnT>
                    <a:lnB w="8640">
                      <a:solidFill>
                        <a:srgbClr val="1b3a52"/>
                      </a:solidFill>
                      <a:prstDash val="solid"/>
                    </a:lnB>
                    <a:solidFill>
                      <a:srgbClr val="0c1d30"/>
                    </a:solidFill>
                  </a:tcPr>
                </a:tc>
                <a:tc>
                  <a:txBody>
                    <a:bodyPr lIns="73080" rIns="73080" tIns="73080" bIns="73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9e7f2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8640">
                      <a:solidFill>
                        <a:srgbClr val="1b3a52"/>
                      </a:solidFill>
                      <a:prstDash val="solid"/>
                    </a:lnL>
                    <a:lnR w="8640">
                      <a:solidFill>
                        <a:srgbClr val="1b3a52"/>
                      </a:solidFill>
                      <a:prstDash val="solid"/>
                    </a:lnR>
                    <a:lnT w="8640">
                      <a:solidFill>
                        <a:srgbClr val="1b3a52"/>
                      </a:solidFill>
                      <a:prstDash val="solid"/>
                    </a:lnT>
                    <a:lnB w="8640">
                      <a:solidFill>
                        <a:srgbClr val="1b3a52"/>
                      </a:solidFill>
                      <a:prstDash val="solid"/>
                    </a:lnB>
                    <a:solidFill>
                      <a:srgbClr val="0c1d30"/>
                    </a:solidFill>
                  </a:tcPr>
                </a:tc>
              </a:tr>
              <a:tr h="457200">
                <a:tc>
                  <a:txBody>
                    <a:bodyPr lIns="73080" rIns="73080" tIns="73080" bIns="73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9e7f2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…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8640">
                      <a:solidFill>
                        <a:srgbClr val="1b3a52"/>
                      </a:solidFill>
                      <a:prstDash val="solid"/>
                    </a:lnL>
                    <a:lnR w="8640">
                      <a:solidFill>
                        <a:srgbClr val="1b3a52"/>
                      </a:solidFill>
                      <a:prstDash val="solid"/>
                    </a:lnR>
                    <a:lnT w="8640">
                      <a:solidFill>
                        <a:srgbClr val="1b3a52"/>
                      </a:solidFill>
                      <a:prstDash val="solid"/>
                    </a:lnT>
                    <a:lnB w="8640">
                      <a:solidFill>
                        <a:srgbClr val="1b3a52"/>
                      </a:solidFill>
                      <a:prstDash val="solid"/>
                    </a:lnB>
                    <a:solidFill>
                      <a:srgbClr val="0c1d30"/>
                    </a:solidFill>
                  </a:tcPr>
                </a:tc>
                <a:tc>
                  <a:txBody>
                    <a:bodyPr lIns="73080" rIns="73080" tIns="73080" bIns="73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9e7f2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…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8640">
                      <a:solidFill>
                        <a:srgbClr val="1b3a52"/>
                      </a:solidFill>
                      <a:prstDash val="solid"/>
                    </a:lnL>
                    <a:lnR w="8640">
                      <a:solidFill>
                        <a:srgbClr val="1b3a52"/>
                      </a:solidFill>
                      <a:prstDash val="solid"/>
                    </a:lnR>
                    <a:lnT w="8640">
                      <a:solidFill>
                        <a:srgbClr val="1b3a52"/>
                      </a:solidFill>
                      <a:prstDash val="solid"/>
                    </a:lnT>
                    <a:lnB w="8640">
                      <a:solidFill>
                        <a:srgbClr val="1b3a52"/>
                      </a:solidFill>
                      <a:prstDash val="solid"/>
                    </a:lnB>
                    <a:solidFill>
                      <a:srgbClr val="0c1d30"/>
                    </a:solidFill>
                  </a:tcPr>
                </a:tc>
                <a:tc>
                  <a:txBody>
                    <a:bodyPr lIns="73080" rIns="73080" tIns="73080" bIns="73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9e7f2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…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8640">
                      <a:solidFill>
                        <a:srgbClr val="1b3a52"/>
                      </a:solidFill>
                      <a:prstDash val="solid"/>
                    </a:lnL>
                    <a:lnR w="8640">
                      <a:solidFill>
                        <a:srgbClr val="1b3a52"/>
                      </a:solidFill>
                      <a:prstDash val="solid"/>
                    </a:lnR>
                    <a:lnT w="8640">
                      <a:solidFill>
                        <a:srgbClr val="1b3a52"/>
                      </a:solidFill>
                      <a:prstDash val="solid"/>
                    </a:lnT>
                    <a:lnB w="8640">
                      <a:solidFill>
                        <a:srgbClr val="1b3a52"/>
                      </a:solidFill>
                      <a:prstDash val="solid"/>
                    </a:lnB>
                    <a:solidFill>
                      <a:srgbClr val="0c1d30"/>
                    </a:solidFill>
                  </a:tcPr>
                </a:tc>
                <a:tc>
                  <a:txBody>
                    <a:bodyPr lIns="73080" rIns="73080" tIns="73080" bIns="73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9e7f2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…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8640">
                      <a:solidFill>
                        <a:srgbClr val="1b3a52"/>
                      </a:solidFill>
                      <a:prstDash val="solid"/>
                    </a:lnL>
                    <a:lnR w="8640">
                      <a:solidFill>
                        <a:srgbClr val="1b3a52"/>
                      </a:solidFill>
                      <a:prstDash val="solid"/>
                    </a:lnR>
                    <a:lnT w="8640">
                      <a:solidFill>
                        <a:srgbClr val="1b3a52"/>
                      </a:solidFill>
                      <a:prstDash val="solid"/>
                    </a:lnT>
                    <a:lnB w="8640">
                      <a:solidFill>
                        <a:srgbClr val="1b3a52"/>
                      </a:solidFill>
                      <a:prstDash val="solid"/>
                    </a:lnB>
                    <a:solidFill>
                      <a:srgbClr val="0c1d30"/>
                    </a:solidFill>
                  </a:tcPr>
                </a:tc>
                <a:tc>
                  <a:txBody>
                    <a:bodyPr lIns="73080" rIns="73080" tIns="73080" bIns="73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9e7f2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…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8640">
                      <a:solidFill>
                        <a:srgbClr val="1b3a52"/>
                      </a:solidFill>
                      <a:prstDash val="solid"/>
                    </a:lnL>
                    <a:lnR w="8640">
                      <a:solidFill>
                        <a:srgbClr val="1b3a52"/>
                      </a:solidFill>
                      <a:prstDash val="solid"/>
                    </a:lnR>
                    <a:lnT w="8640">
                      <a:solidFill>
                        <a:srgbClr val="1b3a52"/>
                      </a:solidFill>
                      <a:prstDash val="solid"/>
                    </a:lnT>
                    <a:lnB w="8640">
                      <a:solidFill>
                        <a:srgbClr val="1b3a52"/>
                      </a:solidFill>
                      <a:prstDash val="solid"/>
                    </a:lnB>
                    <a:solidFill>
                      <a:srgbClr val="0c1d30"/>
                    </a:solidFill>
                  </a:tcPr>
                </a:tc>
                <a:tc>
                  <a:txBody>
                    <a:bodyPr lIns="73080" rIns="73080" tIns="73080" bIns="73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d9e7f2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…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8640">
                      <a:solidFill>
                        <a:srgbClr val="1b3a52"/>
                      </a:solidFill>
                      <a:prstDash val="solid"/>
                    </a:lnL>
                    <a:lnR w="8640">
                      <a:solidFill>
                        <a:srgbClr val="1b3a52"/>
                      </a:solidFill>
                      <a:prstDash val="solid"/>
                    </a:lnR>
                    <a:lnT w="8640">
                      <a:solidFill>
                        <a:srgbClr val="1b3a52"/>
                      </a:solidFill>
                      <a:prstDash val="solid"/>
                    </a:lnT>
                    <a:lnB w="8640">
                      <a:solidFill>
                        <a:srgbClr val="1b3a52"/>
                      </a:solidFill>
                      <a:prstDash val="solid"/>
                    </a:lnB>
                    <a:solidFill>
                      <a:srgbClr val="0c1d30"/>
                    </a:solidFill>
                  </a:tcPr>
                </a:tc>
              </a:tr>
            </a:tbl>
          </a:graphicData>
        </a:graphic>
      </p:graphicFrame>
      <p:sp>
        <p:nvSpPr>
          <p:cNvPr id="477" name="Shape 46"/>
          <p:cNvSpPr/>
          <p:nvPr/>
        </p:nvSpPr>
        <p:spPr>
          <a:xfrm>
            <a:off x="567000" y="2039040"/>
            <a:ext cx="6811920" cy="420120"/>
          </a:xfrm>
          <a:prstGeom prst="rect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47"/>
          <p:cNvSpPr/>
          <p:nvPr/>
        </p:nvSpPr>
        <p:spPr>
          <a:xfrm>
            <a:off x="567000" y="2157840"/>
            <a:ext cx="1389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Date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48"/>
          <p:cNvSpPr/>
          <p:nvPr/>
        </p:nvSpPr>
        <p:spPr>
          <a:xfrm>
            <a:off x="1956960" y="2157840"/>
            <a:ext cx="959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Open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49"/>
          <p:cNvSpPr/>
          <p:nvPr/>
        </p:nvSpPr>
        <p:spPr>
          <a:xfrm>
            <a:off x="2917080" y="2157840"/>
            <a:ext cx="959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High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50"/>
          <p:cNvSpPr/>
          <p:nvPr/>
        </p:nvSpPr>
        <p:spPr>
          <a:xfrm>
            <a:off x="3877200" y="2157840"/>
            <a:ext cx="959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Low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51"/>
          <p:cNvSpPr/>
          <p:nvPr/>
        </p:nvSpPr>
        <p:spPr>
          <a:xfrm>
            <a:off x="4837320" y="2157840"/>
            <a:ext cx="1051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Close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52"/>
          <p:cNvSpPr/>
          <p:nvPr/>
        </p:nvSpPr>
        <p:spPr>
          <a:xfrm>
            <a:off x="5888880" y="2157840"/>
            <a:ext cx="1416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Volume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53"/>
          <p:cNvSpPr/>
          <p:nvPr/>
        </p:nvSpPr>
        <p:spPr>
          <a:xfrm>
            <a:off x="567000" y="4187880"/>
            <a:ext cx="68119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Illustrative schema only — no simulated prices shown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54"/>
          <p:cNvSpPr/>
          <p:nvPr/>
        </p:nvSpPr>
        <p:spPr>
          <a:xfrm>
            <a:off x="7726680" y="1627560"/>
            <a:ext cx="3885840" cy="74952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55"/>
          <p:cNvSpPr/>
          <p:nvPr/>
        </p:nvSpPr>
        <p:spPr>
          <a:xfrm>
            <a:off x="7726680" y="1627560"/>
            <a:ext cx="50040" cy="749520"/>
          </a:xfrm>
          <a:prstGeom prst="rect">
            <a:avLst/>
          </a:prstGeom>
          <a:solidFill>
            <a:srgbClr val="35e6a3"/>
          </a:solidFill>
          <a:ln w="12700">
            <a:solidFill>
              <a:srgbClr val="35e6a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56"/>
          <p:cNvSpPr/>
          <p:nvPr/>
        </p:nvSpPr>
        <p:spPr>
          <a:xfrm>
            <a:off x="7955280" y="1783080"/>
            <a:ext cx="1234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35e6a3"/>
                </a:solidFill>
                <a:effectLst/>
                <a:uFillTx/>
                <a:latin typeface="Aptos"/>
              </a:rPr>
              <a:t>YAHOO FINANCE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57"/>
          <p:cNvSpPr/>
          <p:nvPr/>
        </p:nvSpPr>
        <p:spPr>
          <a:xfrm>
            <a:off x="9253800" y="176472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9e7f2"/>
                </a:solidFill>
                <a:effectLst/>
                <a:uFillTx/>
                <a:latin typeface="Aptos"/>
              </a:rPr>
              <a:t>Live historical retrieval via yfinance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58"/>
          <p:cNvSpPr/>
          <p:nvPr/>
        </p:nvSpPr>
        <p:spPr>
          <a:xfrm>
            <a:off x="7726680" y="2587680"/>
            <a:ext cx="3885840" cy="74952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59"/>
          <p:cNvSpPr/>
          <p:nvPr/>
        </p:nvSpPr>
        <p:spPr>
          <a:xfrm>
            <a:off x="7726680" y="2587680"/>
            <a:ext cx="50040" cy="7495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60"/>
          <p:cNvSpPr/>
          <p:nvPr/>
        </p:nvSpPr>
        <p:spPr>
          <a:xfrm>
            <a:off x="7955280" y="2743200"/>
            <a:ext cx="1234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38bdf8"/>
                </a:solidFill>
                <a:effectLst/>
                <a:uFillTx/>
                <a:latin typeface="Aptos"/>
              </a:rPr>
              <a:t>CSV UPLOAD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61"/>
          <p:cNvSpPr/>
          <p:nvPr/>
        </p:nvSpPr>
        <p:spPr>
          <a:xfrm>
            <a:off x="9253800" y="272484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9e7f2"/>
                </a:solidFill>
                <a:effectLst/>
                <a:uFillTx/>
                <a:latin typeface="Aptos"/>
              </a:rPr>
              <a:t>User-provided OHLCV dataset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62"/>
          <p:cNvSpPr/>
          <p:nvPr/>
        </p:nvSpPr>
        <p:spPr>
          <a:xfrm>
            <a:off x="7726680" y="3547800"/>
            <a:ext cx="3885840" cy="74952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63"/>
          <p:cNvSpPr/>
          <p:nvPr/>
        </p:nvSpPr>
        <p:spPr>
          <a:xfrm>
            <a:off x="7726680" y="3547800"/>
            <a:ext cx="50040" cy="749520"/>
          </a:xfrm>
          <a:prstGeom prst="rect">
            <a:avLst/>
          </a:prstGeom>
          <a:solidFill>
            <a:srgbClr val="35e6a3"/>
          </a:solidFill>
          <a:ln w="12700">
            <a:solidFill>
              <a:srgbClr val="35e6a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64"/>
          <p:cNvSpPr/>
          <p:nvPr/>
        </p:nvSpPr>
        <p:spPr>
          <a:xfrm>
            <a:off x="7955280" y="3703320"/>
            <a:ext cx="1234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35e6a3"/>
                </a:solidFill>
                <a:effectLst/>
                <a:uFillTx/>
                <a:latin typeface="Aptos"/>
              </a:rPr>
              <a:t>OFFLINE DEMO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65"/>
          <p:cNvSpPr/>
          <p:nvPr/>
        </p:nvSpPr>
        <p:spPr>
          <a:xfrm>
            <a:off x="9253800" y="368496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9e7f2"/>
                </a:solidFill>
                <a:effectLst/>
                <a:uFillTx/>
                <a:latin typeface="Aptos"/>
              </a:rPr>
              <a:t>Bundled educational sample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66"/>
          <p:cNvSpPr/>
          <p:nvPr/>
        </p:nvSpPr>
        <p:spPr>
          <a:xfrm>
            <a:off x="7726680" y="4690800"/>
            <a:ext cx="3885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19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EXAMPLE TICKERS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67"/>
          <p:cNvSpPr/>
          <p:nvPr/>
        </p:nvSpPr>
        <p:spPr>
          <a:xfrm>
            <a:off x="7818120" y="5083920"/>
            <a:ext cx="804240" cy="347040"/>
          </a:xfrm>
          <a:prstGeom prst="roundRect">
            <a:avLst>
              <a:gd name="adj" fmla="val 21053"/>
            </a:avLst>
          </a:prstGeom>
          <a:solidFill>
            <a:srgbClr val="22d3ee">
              <a:alpha val="18000"/>
            </a:srgbClr>
          </a:solidFill>
          <a:ln w="10160">
            <a:solidFill>
              <a:srgbClr val="22d3ee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68"/>
          <p:cNvSpPr/>
          <p:nvPr/>
        </p:nvSpPr>
        <p:spPr>
          <a:xfrm>
            <a:off x="7891200" y="5166360"/>
            <a:ext cx="658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AAPL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69"/>
          <p:cNvSpPr/>
          <p:nvPr/>
        </p:nvSpPr>
        <p:spPr>
          <a:xfrm>
            <a:off x="8750880" y="5083920"/>
            <a:ext cx="804240" cy="347040"/>
          </a:xfrm>
          <a:prstGeom prst="roundRect">
            <a:avLst>
              <a:gd name="adj" fmla="val 21053"/>
            </a:avLst>
          </a:prstGeom>
          <a:solidFill>
            <a:srgbClr val="22d3ee">
              <a:alpha val="18000"/>
            </a:srgbClr>
          </a:solidFill>
          <a:ln w="10160">
            <a:solidFill>
              <a:srgbClr val="22d3ee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70"/>
          <p:cNvSpPr/>
          <p:nvPr/>
        </p:nvSpPr>
        <p:spPr>
          <a:xfrm>
            <a:off x="8823960" y="5166360"/>
            <a:ext cx="658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MSFT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71"/>
          <p:cNvSpPr/>
          <p:nvPr/>
        </p:nvSpPr>
        <p:spPr>
          <a:xfrm>
            <a:off x="9683640" y="5083920"/>
            <a:ext cx="804240" cy="347040"/>
          </a:xfrm>
          <a:prstGeom prst="roundRect">
            <a:avLst>
              <a:gd name="adj" fmla="val 21053"/>
            </a:avLst>
          </a:prstGeom>
          <a:solidFill>
            <a:srgbClr val="22d3ee">
              <a:alpha val="18000"/>
            </a:srgbClr>
          </a:solidFill>
          <a:ln w="10160">
            <a:solidFill>
              <a:srgbClr val="22d3ee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72"/>
          <p:cNvSpPr/>
          <p:nvPr/>
        </p:nvSpPr>
        <p:spPr>
          <a:xfrm>
            <a:off x="9756720" y="5166360"/>
            <a:ext cx="658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GOOGL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73"/>
          <p:cNvSpPr/>
          <p:nvPr/>
        </p:nvSpPr>
        <p:spPr>
          <a:xfrm>
            <a:off x="10616040" y="5083920"/>
            <a:ext cx="804240" cy="347040"/>
          </a:xfrm>
          <a:prstGeom prst="roundRect">
            <a:avLst>
              <a:gd name="adj" fmla="val 21053"/>
            </a:avLst>
          </a:prstGeom>
          <a:solidFill>
            <a:srgbClr val="22d3ee">
              <a:alpha val="18000"/>
            </a:srgbClr>
          </a:solidFill>
          <a:ln w="10160">
            <a:solidFill>
              <a:srgbClr val="22d3ee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74"/>
          <p:cNvSpPr/>
          <p:nvPr/>
        </p:nvSpPr>
        <p:spPr>
          <a:xfrm>
            <a:off x="10689480" y="5166360"/>
            <a:ext cx="658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AMZN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75"/>
          <p:cNvSpPr/>
          <p:nvPr/>
        </p:nvSpPr>
        <p:spPr>
          <a:xfrm>
            <a:off x="7818120" y="5559480"/>
            <a:ext cx="804240" cy="347040"/>
          </a:xfrm>
          <a:prstGeom prst="roundRect">
            <a:avLst>
              <a:gd name="adj" fmla="val 21053"/>
            </a:avLst>
          </a:prstGeom>
          <a:solidFill>
            <a:srgbClr val="22d3ee">
              <a:alpha val="18000"/>
            </a:srgbClr>
          </a:solidFill>
          <a:ln w="10160">
            <a:solidFill>
              <a:srgbClr val="22d3ee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76"/>
          <p:cNvSpPr/>
          <p:nvPr/>
        </p:nvSpPr>
        <p:spPr>
          <a:xfrm>
            <a:off x="7891200" y="5641920"/>
            <a:ext cx="658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TSLA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77"/>
          <p:cNvSpPr/>
          <p:nvPr/>
        </p:nvSpPr>
        <p:spPr>
          <a:xfrm>
            <a:off x="8750880" y="5559480"/>
            <a:ext cx="804240" cy="347040"/>
          </a:xfrm>
          <a:prstGeom prst="roundRect">
            <a:avLst>
              <a:gd name="adj" fmla="val 21053"/>
            </a:avLst>
          </a:prstGeom>
          <a:solidFill>
            <a:srgbClr val="22d3ee">
              <a:alpha val="18000"/>
            </a:srgbClr>
          </a:solidFill>
          <a:ln w="10160">
            <a:solidFill>
              <a:srgbClr val="22d3ee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78"/>
          <p:cNvSpPr/>
          <p:nvPr/>
        </p:nvSpPr>
        <p:spPr>
          <a:xfrm>
            <a:off x="8823960" y="5641920"/>
            <a:ext cx="658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NVDA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79"/>
          <p:cNvSpPr/>
          <p:nvPr/>
        </p:nvSpPr>
        <p:spPr>
          <a:xfrm>
            <a:off x="9683640" y="5559480"/>
            <a:ext cx="804240" cy="347040"/>
          </a:xfrm>
          <a:prstGeom prst="roundRect">
            <a:avLst>
              <a:gd name="adj" fmla="val 21053"/>
            </a:avLst>
          </a:prstGeom>
          <a:solidFill>
            <a:srgbClr val="35e6a3">
              <a:alpha val="18000"/>
            </a:srgbClr>
          </a:solidFill>
          <a:ln w="10160">
            <a:solidFill>
              <a:srgbClr val="35e6a3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80"/>
          <p:cNvSpPr/>
          <p:nvPr/>
        </p:nvSpPr>
        <p:spPr>
          <a:xfrm>
            <a:off x="9756720" y="5641920"/>
            <a:ext cx="658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35e6a3"/>
                </a:solidFill>
                <a:effectLst/>
                <a:uFillTx/>
                <a:latin typeface="Aptos"/>
              </a:rPr>
              <a:t>META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1"/>
          <p:cNvSpPr/>
          <p:nvPr/>
        </p:nvSpPr>
        <p:spPr>
          <a:xfrm>
            <a:off x="5029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2"/>
          <p:cNvSpPr/>
          <p:nvPr/>
        </p:nvSpPr>
        <p:spPr>
          <a:xfrm>
            <a:off x="10058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3"/>
          <p:cNvSpPr/>
          <p:nvPr/>
        </p:nvSpPr>
        <p:spPr>
          <a:xfrm>
            <a:off x="15087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4"/>
          <p:cNvSpPr/>
          <p:nvPr/>
        </p:nvSpPr>
        <p:spPr>
          <a:xfrm>
            <a:off x="20116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5"/>
          <p:cNvSpPr/>
          <p:nvPr/>
        </p:nvSpPr>
        <p:spPr>
          <a:xfrm>
            <a:off x="25146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6"/>
          <p:cNvSpPr/>
          <p:nvPr/>
        </p:nvSpPr>
        <p:spPr>
          <a:xfrm>
            <a:off x="30175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7"/>
          <p:cNvSpPr/>
          <p:nvPr/>
        </p:nvSpPr>
        <p:spPr>
          <a:xfrm>
            <a:off x="35204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8"/>
          <p:cNvSpPr/>
          <p:nvPr/>
        </p:nvSpPr>
        <p:spPr>
          <a:xfrm>
            <a:off x="40233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9"/>
          <p:cNvSpPr/>
          <p:nvPr/>
        </p:nvSpPr>
        <p:spPr>
          <a:xfrm>
            <a:off x="45262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10"/>
          <p:cNvSpPr/>
          <p:nvPr/>
        </p:nvSpPr>
        <p:spPr>
          <a:xfrm>
            <a:off x="50292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11"/>
          <p:cNvSpPr/>
          <p:nvPr/>
        </p:nvSpPr>
        <p:spPr>
          <a:xfrm>
            <a:off x="55321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12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Shape 13"/>
          <p:cNvSpPr/>
          <p:nvPr/>
        </p:nvSpPr>
        <p:spPr>
          <a:xfrm>
            <a:off x="65379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Shape 14"/>
          <p:cNvSpPr/>
          <p:nvPr/>
        </p:nvSpPr>
        <p:spPr>
          <a:xfrm>
            <a:off x="70408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15"/>
          <p:cNvSpPr/>
          <p:nvPr/>
        </p:nvSpPr>
        <p:spPr>
          <a:xfrm>
            <a:off x="75438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16"/>
          <p:cNvSpPr/>
          <p:nvPr/>
        </p:nvSpPr>
        <p:spPr>
          <a:xfrm>
            <a:off x="80467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Shape 17"/>
          <p:cNvSpPr/>
          <p:nvPr/>
        </p:nvSpPr>
        <p:spPr>
          <a:xfrm>
            <a:off x="85496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18"/>
          <p:cNvSpPr/>
          <p:nvPr/>
        </p:nvSpPr>
        <p:spPr>
          <a:xfrm>
            <a:off x="90525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19"/>
          <p:cNvSpPr/>
          <p:nvPr/>
        </p:nvSpPr>
        <p:spPr>
          <a:xfrm>
            <a:off x="95554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20"/>
          <p:cNvSpPr/>
          <p:nvPr/>
        </p:nvSpPr>
        <p:spPr>
          <a:xfrm>
            <a:off x="100584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Shape 21"/>
          <p:cNvSpPr/>
          <p:nvPr/>
        </p:nvSpPr>
        <p:spPr>
          <a:xfrm>
            <a:off x="105613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22"/>
          <p:cNvSpPr/>
          <p:nvPr/>
        </p:nvSpPr>
        <p:spPr>
          <a:xfrm>
            <a:off x="110642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23"/>
          <p:cNvSpPr/>
          <p:nvPr/>
        </p:nvSpPr>
        <p:spPr>
          <a:xfrm>
            <a:off x="115671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24"/>
          <p:cNvSpPr/>
          <p:nvPr/>
        </p:nvSpPr>
        <p:spPr>
          <a:xfrm>
            <a:off x="120700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Shape 25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Shape 26"/>
          <p:cNvSpPr/>
          <p:nvPr/>
        </p:nvSpPr>
        <p:spPr>
          <a:xfrm>
            <a:off x="0" y="5029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Shape 27"/>
          <p:cNvSpPr/>
          <p:nvPr/>
        </p:nvSpPr>
        <p:spPr>
          <a:xfrm>
            <a:off x="0" y="10058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Shape 28"/>
          <p:cNvSpPr/>
          <p:nvPr/>
        </p:nvSpPr>
        <p:spPr>
          <a:xfrm>
            <a:off x="0" y="15087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29"/>
          <p:cNvSpPr/>
          <p:nvPr/>
        </p:nvSpPr>
        <p:spPr>
          <a:xfrm>
            <a:off x="0" y="201168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Shape 30"/>
          <p:cNvSpPr/>
          <p:nvPr/>
        </p:nvSpPr>
        <p:spPr>
          <a:xfrm>
            <a:off x="0" y="251460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31"/>
          <p:cNvSpPr/>
          <p:nvPr/>
        </p:nvSpPr>
        <p:spPr>
          <a:xfrm>
            <a:off x="0" y="30175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32"/>
          <p:cNvSpPr/>
          <p:nvPr/>
        </p:nvSpPr>
        <p:spPr>
          <a:xfrm>
            <a:off x="0" y="35204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33"/>
          <p:cNvSpPr/>
          <p:nvPr/>
        </p:nvSpPr>
        <p:spPr>
          <a:xfrm>
            <a:off x="0" y="40233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34"/>
          <p:cNvSpPr/>
          <p:nvPr/>
        </p:nvSpPr>
        <p:spPr>
          <a:xfrm>
            <a:off x="0" y="452628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Shape 35"/>
          <p:cNvSpPr/>
          <p:nvPr/>
        </p:nvSpPr>
        <p:spPr>
          <a:xfrm>
            <a:off x="0" y="502920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Shape 36"/>
          <p:cNvSpPr/>
          <p:nvPr/>
        </p:nvSpPr>
        <p:spPr>
          <a:xfrm>
            <a:off x="0" y="55321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37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38"/>
          <p:cNvSpPr/>
          <p:nvPr/>
        </p:nvSpPr>
        <p:spPr>
          <a:xfrm>
            <a:off x="0" y="65379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 39"/>
          <p:cNvSpPr/>
          <p:nvPr/>
        </p:nvSpPr>
        <p:spPr>
          <a:xfrm>
            <a:off x="502920" y="292680"/>
            <a:ext cx="502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39" strike="noStrike" u="none">
                <a:solidFill>
                  <a:srgbClr val="35e6a3"/>
                </a:solidFill>
                <a:effectLst/>
                <a:uFillTx/>
                <a:latin typeface="Aptos"/>
                <a:ea typeface="Aptos"/>
              </a:rPr>
              <a:t>08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40"/>
          <p:cNvSpPr/>
          <p:nvPr/>
        </p:nvSpPr>
        <p:spPr>
          <a:xfrm>
            <a:off x="1078920" y="29268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59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LEAKAGE-AWARE PIPELINE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41"/>
          <p:cNvSpPr/>
          <p:nvPr/>
        </p:nvSpPr>
        <p:spPr>
          <a:xfrm>
            <a:off x="502920" y="65844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Data Preprocessing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Shape 42"/>
          <p:cNvSpPr/>
          <p:nvPr/>
        </p:nvSpPr>
        <p:spPr>
          <a:xfrm>
            <a:off x="502920" y="1298160"/>
            <a:ext cx="11155680" cy="360"/>
          </a:xfrm>
          <a:prstGeom prst="line">
            <a:avLst/>
          </a:prstGeom>
          <a:ln w="12700">
            <a:solidFill>
              <a:srgbClr val="1b3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43"/>
          <p:cNvSpPr/>
          <p:nvPr/>
        </p:nvSpPr>
        <p:spPr>
          <a:xfrm>
            <a:off x="502920" y="1298160"/>
            <a:ext cx="1234440" cy="360"/>
          </a:xfrm>
          <a:prstGeom prst="line">
            <a:avLst/>
          </a:prstGeom>
          <a:ln w="381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44"/>
          <p:cNvSpPr/>
          <p:nvPr/>
        </p:nvSpPr>
        <p:spPr>
          <a:xfrm>
            <a:off x="7955280" y="6519600"/>
            <a:ext cx="3702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99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AI STOCK PRICE PREDICTOR  /  LSTM + GRU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Shape 45"/>
          <p:cNvSpPr/>
          <p:nvPr/>
        </p:nvSpPr>
        <p:spPr>
          <a:xfrm>
            <a:off x="567000" y="1664280"/>
            <a:ext cx="2331360" cy="767880"/>
          </a:xfrm>
          <a:prstGeom prst="roundRect">
            <a:avLst>
              <a:gd name="adj" fmla="val 9524"/>
            </a:avLst>
          </a:prstGeom>
          <a:solidFill>
            <a:srgbClr val="10243a"/>
          </a:solidFill>
          <a:ln w="15240">
            <a:solidFill>
              <a:srgbClr val="22d3ee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46"/>
          <p:cNvSpPr/>
          <p:nvPr/>
        </p:nvSpPr>
        <p:spPr>
          <a:xfrm>
            <a:off x="658440" y="1774080"/>
            <a:ext cx="2148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Raw Stock Data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47"/>
          <p:cNvSpPr/>
          <p:nvPr/>
        </p:nvSpPr>
        <p:spPr>
          <a:xfrm>
            <a:off x="658440" y="2057400"/>
            <a:ext cx="2148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01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48"/>
          <p:cNvSpPr/>
          <p:nvPr/>
        </p:nvSpPr>
        <p:spPr>
          <a:xfrm>
            <a:off x="2907720" y="2048040"/>
            <a:ext cx="438840" cy="360"/>
          </a:xfrm>
          <a:prstGeom prst="line">
            <a:avLst/>
          </a:prstGeom>
          <a:ln w="19050">
            <a:solidFill>
              <a:srgbClr val="38bd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Shape 49"/>
          <p:cNvSpPr/>
          <p:nvPr/>
        </p:nvSpPr>
        <p:spPr>
          <a:xfrm>
            <a:off x="3383280" y="1664280"/>
            <a:ext cx="2331360" cy="767880"/>
          </a:xfrm>
          <a:prstGeom prst="roundRect">
            <a:avLst>
              <a:gd name="adj" fmla="val 9524"/>
            </a:avLst>
          </a:prstGeom>
          <a:solidFill>
            <a:srgbClr val="10243a"/>
          </a:solidFill>
          <a:ln w="15240">
            <a:solidFill>
              <a:srgbClr val="22d3ee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50"/>
          <p:cNvSpPr/>
          <p:nvPr/>
        </p:nvSpPr>
        <p:spPr>
          <a:xfrm>
            <a:off x="3474720" y="1774080"/>
            <a:ext cx="2148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Data Cleaning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51"/>
          <p:cNvSpPr/>
          <p:nvPr/>
        </p:nvSpPr>
        <p:spPr>
          <a:xfrm>
            <a:off x="3474720" y="2057400"/>
            <a:ext cx="2148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02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52"/>
          <p:cNvSpPr/>
          <p:nvPr/>
        </p:nvSpPr>
        <p:spPr>
          <a:xfrm>
            <a:off x="5724000" y="2048040"/>
            <a:ext cx="438840" cy="360"/>
          </a:xfrm>
          <a:prstGeom prst="line">
            <a:avLst/>
          </a:prstGeom>
          <a:ln w="19050">
            <a:solidFill>
              <a:srgbClr val="38bd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53"/>
          <p:cNvSpPr/>
          <p:nvPr/>
        </p:nvSpPr>
        <p:spPr>
          <a:xfrm>
            <a:off x="6199560" y="1664280"/>
            <a:ext cx="2331360" cy="767880"/>
          </a:xfrm>
          <a:prstGeom prst="roundRect">
            <a:avLst>
              <a:gd name="adj" fmla="val 9524"/>
            </a:avLst>
          </a:prstGeom>
          <a:solidFill>
            <a:srgbClr val="10243a"/>
          </a:solidFill>
          <a:ln w="15240">
            <a:solidFill>
              <a:srgbClr val="22d3ee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54"/>
          <p:cNvSpPr/>
          <p:nvPr/>
        </p:nvSpPr>
        <p:spPr>
          <a:xfrm>
            <a:off x="6291000" y="1774080"/>
            <a:ext cx="2148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Handle Missing Values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55"/>
          <p:cNvSpPr/>
          <p:nvPr/>
        </p:nvSpPr>
        <p:spPr>
          <a:xfrm>
            <a:off x="6291000" y="2057400"/>
            <a:ext cx="2148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03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Shape 56"/>
          <p:cNvSpPr/>
          <p:nvPr/>
        </p:nvSpPr>
        <p:spPr>
          <a:xfrm>
            <a:off x="8540280" y="2048040"/>
            <a:ext cx="438840" cy="360"/>
          </a:xfrm>
          <a:prstGeom prst="line">
            <a:avLst/>
          </a:prstGeom>
          <a:ln w="19050">
            <a:solidFill>
              <a:srgbClr val="38bd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57"/>
          <p:cNvSpPr/>
          <p:nvPr/>
        </p:nvSpPr>
        <p:spPr>
          <a:xfrm>
            <a:off x="9015840" y="1664280"/>
            <a:ext cx="2331360" cy="767880"/>
          </a:xfrm>
          <a:prstGeom prst="roundRect">
            <a:avLst>
              <a:gd name="adj" fmla="val 9524"/>
            </a:avLst>
          </a:prstGeom>
          <a:solidFill>
            <a:srgbClr val="10243a"/>
          </a:solidFill>
          <a:ln w="15240">
            <a:solidFill>
              <a:srgbClr val="22d3ee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58"/>
          <p:cNvSpPr/>
          <p:nvPr/>
        </p:nvSpPr>
        <p:spPr>
          <a:xfrm>
            <a:off x="9107280" y="1774080"/>
            <a:ext cx="2148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Chronological Sort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59"/>
          <p:cNvSpPr/>
          <p:nvPr/>
        </p:nvSpPr>
        <p:spPr>
          <a:xfrm>
            <a:off x="9107280" y="2057400"/>
            <a:ext cx="2148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04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60"/>
          <p:cNvSpPr/>
          <p:nvPr/>
        </p:nvSpPr>
        <p:spPr>
          <a:xfrm>
            <a:off x="10954440" y="2441160"/>
            <a:ext cx="360" cy="603720"/>
          </a:xfrm>
          <a:prstGeom prst="line">
            <a:avLst/>
          </a:prstGeom>
          <a:ln w="19050">
            <a:solidFill>
              <a:srgbClr val="38bd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Shape 61"/>
          <p:cNvSpPr/>
          <p:nvPr/>
        </p:nvSpPr>
        <p:spPr>
          <a:xfrm>
            <a:off x="567000" y="3538800"/>
            <a:ext cx="2331360" cy="767880"/>
          </a:xfrm>
          <a:prstGeom prst="roundRect">
            <a:avLst>
              <a:gd name="adj" fmla="val 9524"/>
            </a:avLst>
          </a:prstGeom>
          <a:solidFill>
            <a:srgbClr val="10243a"/>
          </a:solidFill>
          <a:ln w="15240">
            <a:solidFill>
              <a:srgbClr val="22d3ee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62"/>
          <p:cNvSpPr/>
          <p:nvPr/>
        </p:nvSpPr>
        <p:spPr>
          <a:xfrm>
            <a:off x="658440" y="3648600"/>
            <a:ext cx="2148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Select Close Price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63"/>
          <p:cNvSpPr/>
          <p:nvPr/>
        </p:nvSpPr>
        <p:spPr>
          <a:xfrm>
            <a:off x="658440" y="3931920"/>
            <a:ext cx="2148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05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Shape 64"/>
          <p:cNvSpPr/>
          <p:nvPr/>
        </p:nvSpPr>
        <p:spPr>
          <a:xfrm>
            <a:off x="2907720" y="3922560"/>
            <a:ext cx="438840" cy="360"/>
          </a:xfrm>
          <a:prstGeom prst="line">
            <a:avLst/>
          </a:prstGeom>
          <a:ln w="19050">
            <a:solidFill>
              <a:srgbClr val="38bd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Shape 65"/>
          <p:cNvSpPr/>
          <p:nvPr/>
        </p:nvSpPr>
        <p:spPr>
          <a:xfrm>
            <a:off x="3383280" y="3538800"/>
            <a:ext cx="2331360" cy="767880"/>
          </a:xfrm>
          <a:prstGeom prst="roundRect">
            <a:avLst>
              <a:gd name="adj" fmla="val 9524"/>
            </a:avLst>
          </a:prstGeom>
          <a:solidFill>
            <a:srgbClr val="10243a"/>
          </a:solidFill>
          <a:ln w="15240">
            <a:solidFill>
              <a:srgbClr val="22d3ee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66"/>
          <p:cNvSpPr/>
          <p:nvPr/>
        </p:nvSpPr>
        <p:spPr>
          <a:xfrm>
            <a:off x="3474720" y="3648600"/>
            <a:ext cx="2148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MinMax Scaling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67"/>
          <p:cNvSpPr/>
          <p:nvPr/>
        </p:nvSpPr>
        <p:spPr>
          <a:xfrm>
            <a:off x="3474720" y="3931920"/>
            <a:ext cx="2148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06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0" name="Shape 68"/>
          <p:cNvSpPr/>
          <p:nvPr/>
        </p:nvSpPr>
        <p:spPr>
          <a:xfrm>
            <a:off x="5724000" y="3922560"/>
            <a:ext cx="438840" cy="360"/>
          </a:xfrm>
          <a:prstGeom prst="line">
            <a:avLst/>
          </a:prstGeom>
          <a:ln w="19050">
            <a:solidFill>
              <a:srgbClr val="38bd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1" name="Shape 69"/>
          <p:cNvSpPr/>
          <p:nvPr/>
        </p:nvSpPr>
        <p:spPr>
          <a:xfrm>
            <a:off x="6199560" y="3538800"/>
            <a:ext cx="2331360" cy="767880"/>
          </a:xfrm>
          <a:prstGeom prst="roundRect">
            <a:avLst>
              <a:gd name="adj" fmla="val 9524"/>
            </a:avLst>
          </a:prstGeom>
          <a:solidFill>
            <a:srgbClr val="10243a"/>
          </a:solidFill>
          <a:ln w="15240">
            <a:solidFill>
              <a:srgbClr val="22d3ee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70"/>
          <p:cNvSpPr/>
          <p:nvPr/>
        </p:nvSpPr>
        <p:spPr>
          <a:xfrm>
            <a:off x="6291000" y="3648600"/>
            <a:ext cx="2148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Sliding Windows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71"/>
          <p:cNvSpPr/>
          <p:nvPr/>
        </p:nvSpPr>
        <p:spPr>
          <a:xfrm>
            <a:off x="6291000" y="3931920"/>
            <a:ext cx="2148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07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4" name="Shape 72"/>
          <p:cNvSpPr/>
          <p:nvPr/>
        </p:nvSpPr>
        <p:spPr>
          <a:xfrm>
            <a:off x="8540280" y="3922560"/>
            <a:ext cx="438840" cy="360"/>
          </a:xfrm>
          <a:prstGeom prst="line">
            <a:avLst/>
          </a:prstGeom>
          <a:ln w="19050">
            <a:solidFill>
              <a:srgbClr val="35e6a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5" name="Shape 73"/>
          <p:cNvSpPr/>
          <p:nvPr/>
        </p:nvSpPr>
        <p:spPr>
          <a:xfrm>
            <a:off x="9015840" y="3538800"/>
            <a:ext cx="2331360" cy="767880"/>
          </a:xfrm>
          <a:prstGeom prst="roundRect">
            <a:avLst>
              <a:gd name="adj" fmla="val 9524"/>
            </a:avLst>
          </a:prstGeom>
          <a:solidFill>
            <a:srgbClr val="10243a"/>
          </a:solidFill>
          <a:ln w="15240">
            <a:solidFill>
              <a:srgbClr val="35e6a3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74"/>
          <p:cNvSpPr/>
          <p:nvPr/>
        </p:nvSpPr>
        <p:spPr>
          <a:xfrm>
            <a:off x="9107280" y="3648600"/>
            <a:ext cx="2148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80% Train / 20% Test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 75"/>
          <p:cNvSpPr/>
          <p:nvPr/>
        </p:nvSpPr>
        <p:spPr>
          <a:xfrm>
            <a:off x="9107280" y="3931920"/>
            <a:ext cx="2148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08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 76"/>
          <p:cNvSpPr/>
          <p:nvPr/>
        </p:nvSpPr>
        <p:spPr>
          <a:xfrm>
            <a:off x="567000" y="560520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11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WINDOW LENGTH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9" name="Shape 77"/>
          <p:cNvSpPr/>
          <p:nvPr/>
        </p:nvSpPr>
        <p:spPr>
          <a:xfrm>
            <a:off x="2286000" y="5513760"/>
            <a:ext cx="1023840" cy="347040"/>
          </a:xfrm>
          <a:prstGeom prst="roundRect">
            <a:avLst>
              <a:gd name="adj" fmla="val 21053"/>
            </a:avLst>
          </a:prstGeom>
          <a:solidFill>
            <a:srgbClr val="22d3ee">
              <a:alpha val="18000"/>
            </a:srgbClr>
          </a:solidFill>
          <a:ln w="10160">
            <a:solidFill>
              <a:srgbClr val="22d3ee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78"/>
          <p:cNvSpPr/>
          <p:nvPr/>
        </p:nvSpPr>
        <p:spPr>
          <a:xfrm>
            <a:off x="2359080" y="5596200"/>
            <a:ext cx="877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20 days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Shape 79"/>
          <p:cNvSpPr/>
          <p:nvPr/>
        </p:nvSpPr>
        <p:spPr>
          <a:xfrm>
            <a:off x="3520440" y="5513760"/>
            <a:ext cx="1023840" cy="347040"/>
          </a:xfrm>
          <a:prstGeom prst="roundRect">
            <a:avLst>
              <a:gd name="adj" fmla="val 21053"/>
            </a:avLst>
          </a:prstGeom>
          <a:solidFill>
            <a:srgbClr val="22d3ee">
              <a:alpha val="18000"/>
            </a:srgbClr>
          </a:solidFill>
          <a:ln w="10160">
            <a:solidFill>
              <a:srgbClr val="22d3ee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80"/>
          <p:cNvSpPr/>
          <p:nvPr/>
        </p:nvSpPr>
        <p:spPr>
          <a:xfrm>
            <a:off x="3593520" y="5596200"/>
            <a:ext cx="877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30 days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Shape 81"/>
          <p:cNvSpPr/>
          <p:nvPr/>
        </p:nvSpPr>
        <p:spPr>
          <a:xfrm>
            <a:off x="4754880" y="5513760"/>
            <a:ext cx="1023840" cy="347040"/>
          </a:xfrm>
          <a:prstGeom prst="roundRect">
            <a:avLst>
              <a:gd name="adj" fmla="val 21053"/>
            </a:avLst>
          </a:prstGeom>
          <a:solidFill>
            <a:srgbClr val="35e6a3">
              <a:alpha val="18000"/>
            </a:srgbClr>
          </a:solidFill>
          <a:ln w="10160">
            <a:solidFill>
              <a:srgbClr val="35e6a3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 82"/>
          <p:cNvSpPr/>
          <p:nvPr/>
        </p:nvSpPr>
        <p:spPr>
          <a:xfrm>
            <a:off x="4827960" y="5596200"/>
            <a:ext cx="877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35e6a3"/>
                </a:solidFill>
                <a:effectLst/>
                <a:uFillTx/>
                <a:latin typeface="Aptos"/>
              </a:rPr>
              <a:t>60 days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Shape 83"/>
          <p:cNvSpPr/>
          <p:nvPr/>
        </p:nvSpPr>
        <p:spPr>
          <a:xfrm>
            <a:off x="5989320" y="5513760"/>
            <a:ext cx="1023840" cy="347040"/>
          </a:xfrm>
          <a:prstGeom prst="roundRect">
            <a:avLst>
              <a:gd name="adj" fmla="val 21053"/>
            </a:avLst>
          </a:prstGeom>
          <a:solidFill>
            <a:srgbClr val="22d3ee">
              <a:alpha val="18000"/>
            </a:srgbClr>
          </a:solidFill>
          <a:ln w="10160">
            <a:solidFill>
              <a:srgbClr val="22d3ee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84"/>
          <p:cNvSpPr/>
          <p:nvPr/>
        </p:nvSpPr>
        <p:spPr>
          <a:xfrm>
            <a:off x="6062400" y="5596200"/>
            <a:ext cx="877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90 days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Shape 85"/>
          <p:cNvSpPr/>
          <p:nvPr/>
        </p:nvSpPr>
        <p:spPr>
          <a:xfrm>
            <a:off x="7680960" y="5285160"/>
            <a:ext cx="3931560" cy="74952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Shape 86"/>
          <p:cNvSpPr/>
          <p:nvPr/>
        </p:nvSpPr>
        <p:spPr>
          <a:xfrm>
            <a:off x="7680960" y="5285160"/>
            <a:ext cx="50040" cy="749520"/>
          </a:xfrm>
          <a:prstGeom prst="rect">
            <a:avLst/>
          </a:prstGeom>
          <a:solidFill>
            <a:srgbClr val="35e6a3"/>
          </a:solidFill>
          <a:ln w="12700">
            <a:solidFill>
              <a:srgbClr val="35e6a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87"/>
          <p:cNvSpPr/>
          <p:nvPr/>
        </p:nvSpPr>
        <p:spPr>
          <a:xfrm>
            <a:off x="7936920" y="5523120"/>
            <a:ext cx="3401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35e6a3"/>
                </a:solidFill>
                <a:effectLst/>
                <a:uFillTx/>
                <a:latin typeface="Aptos"/>
              </a:rPr>
              <a:t>Important: fit MinMaxScaler on the training partition only.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1" name="Shape 1"/>
          <p:cNvSpPr/>
          <p:nvPr/>
        </p:nvSpPr>
        <p:spPr>
          <a:xfrm>
            <a:off x="5029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Shape 2"/>
          <p:cNvSpPr/>
          <p:nvPr/>
        </p:nvSpPr>
        <p:spPr>
          <a:xfrm>
            <a:off x="10058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3" name="Shape 3"/>
          <p:cNvSpPr/>
          <p:nvPr/>
        </p:nvSpPr>
        <p:spPr>
          <a:xfrm>
            <a:off x="15087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4" name="Shape 4"/>
          <p:cNvSpPr/>
          <p:nvPr/>
        </p:nvSpPr>
        <p:spPr>
          <a:xfrm>
            <a:off x="20116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5" name="Shape 5"/>
          <p:cNvSpPr/>
          <p:nvPr/>
        </p:nvSpPr>
        <p:spPr>
          <a:xfrm>
            <a:off x="25146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6" name="Shape 6"/>
          <p:cNvSpPr/>
          <p:nvPr/>
        </p:nvSpPr>
        <p:spPr>
          <a:xfrm>
            <a:off x="30175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Shape 7"/>
          <p:cNvSpPr/>
          <p:nvPr/>
        </p:nvSpPr>
        <p:spPr>
          <a:xfrm>
            <a:off x="35204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8" name="Shape 8"/>
          <p:cNvSpPr/>
          <p:nvPr/>
        </p:nvSpPr>
        <p:spPr>
          <a:xfrm>
            <a:off x="40233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9" name="Shape 9"/>
          <p:cNvSpPr/>
          <p:nvPr/>
        </p:nvSpPr>
        <p:spPr>
          <a:xfrm>
            <a:off x="45262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0" name="Shape 10"/>
          <p:cNvSpPr/>
          <p:nvPr/>
        </p:nvSpPr>
        <p:spPr>
          <a:xfrm>
            <a:off x="50292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11"/>
          <p:cNvSpPr/>
          <p:nvPr/>
        </p:nvSpPr>
        <p:spPr>
          <a:xfrm>
            <a:off x="55321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Shape 12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Shape 13"/>
          <p:cNvSpPr/>
          <p:nvPr/>
        </p:nvSpPr>
        <p:spPr>
          <a:xfrm>
            <a:off x="65379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Shape 14"/>
          <p:cNvSpPr/>
          <p:nvPr/>
        </p:nvSpPr>
        <p:spPr>
          <a:xfrm>
            <a:off x="70408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5" name="Shape 15"/>
          <p:cNvSpPr/>
          <p:nvPr/>
        </p:nvSpPr>
        <p:spPr>
          <a:xfrm>
            <a:off x="75438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Shape 16"/>
          <p:cNvSpPr/>
          <p:nvPr/>
        </p:nvSpPr>
        <p:spPr>
          <a:xfrm>
            <a:off x="80467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Shape 17"/>
          <p:cNvSpPr/>
          <p:nvPr/>
        </p:nvSpPr>
        <p:spPr>
          <a:xfrm>
            <a:off x="85496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8" name="Shape 18"/>
          <p:cNvSpPr/>
          <p:nvPr/>
        </p:nvSpPr>
        <p:spPr>
          <a:xfrm>
            <a:off x="90525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9" name="Shape 19"/>
          <p:cNvSpPr/>
          <p:nvPr/>
        </p:nvSpPr>
        <p:spPr>
          <a:xfrm>
            <a:off x="95554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0" name="Shape 20"/>
          <p:cNvSpPr/>
          <p:nvPr/>
        </p:nvSpPr>
        <p:spPr>
          <a:xfrm>
            <a:off x="100584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21"/>
          <p:cNvSpPr/>
          <p:nvPr/>
        </p:nvSpPr>
        <p:spPr>
          <a:xfrm>
            <a:off x="105613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Shape 22"/>
          <p:cNvSpPr/>
          <p:nvPr/>
        </p:nvSpPr>
        <p:spPr>
          <a:xfrm>
            <a:off x="110642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Shape 23"/>
          <p:cNvSpPr/>
          <p:nvPr/>
        </p:nvSpPr>
        <p:spPr>
          <a:xfrm>
            <a:off x="115671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4" name="Shape 24"/>
          <p:cNvSpPr/>
          <p:nvPr/>
        </p:nvSpPr>
        <p:spPr>
          <a:xfrm>
            <a:off x="120700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5" name="Shape 25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6" name="Shape 26"/>
          <p:cNvSpPr/>
          <p:nvPr/>
        </p:nvSpPr>
        <p:spPr>
          <a:xfrm>
            <a:off x="0" y="5029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Shape 27"/>
          <p:cNvSpPr/>
          <p:nvPr/>
        </p:nvSpPr>
        <p:spPr>
          <a:xfrm>
            <a:off x="0" y="10058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Shape 28"/>
          <p:cNvSpPr/>
          <p:nvPr/>
        </p:nvSpPr>
        <p:spPr>
          <a:xfrm>
            <a:off x="0" y="15087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Shape 29"/>
          <p:cNvSpPr/>
          <p:nvPr/>
        </p:nvSpPr>
        <p:spPr>
          <a:xfrm>
            <a:off x="0" y="201168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Shape 30"/>
          <p:cNvSpPr/>
          <p:nvPr/>
        </p:nvSpPr>
        <p:spPr>
          <a:xfrm>
            <a:off x="0" y="251460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Shape 31"/>
          <p:cNvSpPr/>
          <p:nvPr/>
        </p:nvSpPr>
        <p:spPr>
          <a:xfrm>
            <a:off x="0" y="30175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2" name="Shape 32"/>
          <p:cNvSpPr/>
          <p:nvPr/>
        </p:nvSpPr>
        <p:spPr>
          <a:xfrm>
            <a:off x="0" y="35204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3" name="Shape 33"/>
          <p:cNvSpPr/>
          <p:nvPr/>
        </p:nvSpPr>
        <p:spPr>
          <a:xfrm>
            <a:off x="0" y="40233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4" name="Shape 34"/>
          <p:cNvSpPr/>
          <p:nvPr/>
        </p:nvSpPr>
        <p:spPr>
          <a:xfrm>
            <a:off x="0" y="452628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Shape 35"/>
          <p:cNvSpPr/>
          <p:nvPr/>
        </p:nvSpPr>
        <p:spPr>
          <a:xfrm>
            <a:off x="0" y="502920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6" name="Shape 36"/>
          <p:cNvSpPr/>
          <p:nvPr/>
        </p:nvSpPr>
        <p:spPr>
          <a:xfrm>
            <a:off x="0" y="55321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7" name="Shape 37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Shape 38"/>
          <p:cNvSpPr/>
          <p:nvPr/>
        </p:nvSpPr>
        <p:spPr>
          <a:xfrm>
            <a:off x="0" y="65379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9" name="Text 39"/>
          <p:cNvSpPr/>
          <p:nvPr/>
        </p:nvSpPr>
        <p:spPr>
          <a:xfrm>
            <a:off x="502920" y="292680"/>
            <a:ext cx="502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39" strike="noStrike" u="none">
                <a:solidFill>
                  <a:srgbClr val="35e6a3"/>
                </a:solidFill>
                <a:effectLst/>
                <a:uFillTx/>
                <a:latin typeface="Aptos"/>
                <a:ea typeface="Aptos"/>
              </a:rPr>
              <a:t>09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 40"/>
          <p:cNvSpPr/>
          <p:nvPr/>
        </p:nvSpPr>
        <p:spPr>
          <a:xfrm>
            <a:off x="1078920" y="29268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59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LONG SHORT-TERM MEMORY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 41"/>
          <p:cNvSpPr/>
          <p:nvPr/>
        </p:nvSpPr>
        <p:spPr>
          <a:xfrm>
            <a:off x="502920" y="65844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LSTM Model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2" name="Shape 42"/>
          <p:cNvSpPr/>
          <p:nvPr/>
        </p:nvSpPr>
        <p:spPr>
          <a:xfrm>
            <a:off x="502920" y="1298160"/>
            <a:ext cx="11155680" cy="360"/>
          </a:xfrm>
          <a:prstGeom prst="line">
            <a:avLst/>
          </a:prstGeom>
          <a:ln w="12700">
            <a:solidFill>
              <a:srgbClr val="1b3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Shape 43"/>
          <p:cNvSpPr/>
          <p:nvPr/>
        </p:nvSpPr>
        <p:spPr>
          <a:xfrm>
            <a:off x="502920" y="1298160"/>
            <a:ext cx="1234440" cy="360"/>
          </a:xfrm>
          <a:prstGeom prst="line">
            <a:avLst/>
          </a:prstGeom>
          <a:ln w="381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 44"/>
          <p:cNvSpPr/>
          <p:nvPr/>
        </p:nvSpPr>
        <p:spPr>
          <a:xfrm>
            <a:off x="7955280" y="6519600"/>
            <a:ext cx="3702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99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AI STOCK PRICE PREDICTOR  /  LSTM + GRU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 45"/>
          <p:cNvSpPr/>
          <p:nvPr/>
        </p:nvSpPr>
        <p:spPr>
          <a:xfrm>
            <a:off x="594360" y="1700640"/>
            <a:ext cx="4160160" cy="23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t">
            <a:normAutofit/>
          </a:bodyPr>
          <a:p>
            <a:pPr marL="203040" indent="-203040" defTabSz="914400">
              <a:lnSpc>
                <a:spcPct val="100000"/>
              </a:lnSpc>
              <a:buClr>
                <a:srgbClr val="d9e7f2"/>
              </a:buClr>
              <a:buFont typeface="Symbol" charset="2"/>
              <a:buChar char=""/>
            </a:pPr>
            <a:r>
              <a:rPr b="0" lang="en-US" sz="1550" strike="noStrike" u="none">
                <a:solidFill>
                  <a:srgbClr val="d9e7f2"/>
                </a:solidFill>
                <a:effectLst/>
                <a:uFillTx/>
                <a:latin typeface="Aptos"/>
              </a:rPr>
              <a:t>Designed for sequential and time-series data</a:t>
            </a:r>
            <a:endParaRPr b="0" lang="en-US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d9e7f2"/>
              </a:buClr>
              <a:buFont typeface="Symbol" charset="2"/>
              <a:buChar char=""/>
            </a:pPr>
            <a:r>
              <a:rPr b="0" lang="en-US" sz="1550" strike="noStrike" u="none">
                <a:solidFill>
                  <a:srgbClr val="d9e7f2"/>
                </a:solidFill>
                <a:effectLst/>
                <a:uFillTx/>
                <a:latin typeface="Aptos"/>
              </a:rPr>
              <a:t>Maintains a memory cell across time steps</a:t>
            </a:r>
            <a:endParaRPr b="0" lang="en-US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d9e7f2"/>
              </a:buClr>
              <a:buFont typeface="Symbol" charset="2"/>
              <a:buChar char=""/>
            </a:pPr>
            <a:r>
              <a:rPr b="0" lang="en-US" sz="1550" strike="noStrike" u="none">
                <a:solidFill>
                  <a:srgbClr val="d9e7f2"/>
                </a:solidFill>
                <a:effectLst/>
                <a:uFillTx/>
                <a:latin typeface="Aptos"/>
              </a:rPr>
              <a:t>Gates regulate what to forget, store, and reveal</a:t>
            </a:r>
            <a:endParaRPr b="0" lang="en-US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d9e7f2"/>
              </a:buClr>
              <a:buFont typeface="Symbol" charset="2"/>
              <a:buChar char=""/>
            </a:pPr>
            <a:r>
              <a:rPr b="0" lang="en-US" sz="1550" strike="noStrike" u="none">
                <a:solidFill>
                  <a:srgbClr val="d9e7f2"/>
                </a:solidFill>
                <a:effectLst/>
                <a:uFillTx/>
                <a:latin typeface="Aptos"/>
              </a:rPr>
              <a:t>Helps reduce vanishing-gradient effects</a:t>
            </a:r>
            <a:endParaRPr b="0" lang="en-US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d9e7f2"/>
              </a:buClr>
              <a:buFont typeface="Symbol" charset="2"/>
              <a:buChar char=""/>
            </a:pPr>
            <a:r>
              <a:rPr b="0" lang="en-US" sz="1550" strike="noStrike" u="none">
                <a:solidFill>
                  <a:srgbClr val="d9e7f2"/>
                </a:solidFill>
                <a:effectLst/>
                <a:uFillTx/>
                <a:latin typeface="Aptos"/>
              </a:rPr>
              <a:t>Learns longer-term temporal dependencies</a:t>
            </a:r>
            <a:endParaRPr b="0" lang="en-US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6" name="Shape 46"/>
          <p:cNvSpPr/>
          <p:nvPr/>
        </p:nvSpPr>
        <p:spPr>
          <a:xfrm>
            <a:off x="5148000" y="1874520"/>
            <a:ext cx="1234080" cy="1023840"/>
          </a:xfrm>
          <a:prstGeom prst="roundRect">
            <a:avLst>
              <a:gd name="adj" fmla="val 7143"/>
            </a:avLst>
          </a:prstGeom>
          <a:solidFill>
            <a:srgbClr val="10243a"/>
          </a:solidFill>
          <a:ln w="15240">
            <a:solidFill>
              <a:srgbClr val="22d3ee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 47"/>
          <p:cNvSpPr/>
          <p:nvPr/>
        </p:nvSpPr>
        <p:spPr>
          <a:xfrm>
            <a:off x="5239440" y="1984320"/>
            <a:ext cx="1051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Forget Gate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 48"/>
          <p:cNvSpPr/>
          <p:nvPr/>
        </p:nvSpPr>
        <p:spPr>
          <a:xfrm>
            <a:off x="5239440" y="2267640"/>
            <a:ext cx="1051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fₜ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Shape 49"/>
          <p:cNvSpPr/>
          <p:nvPr/>
        </p:nvSpPr>
        <p:spPr>
          <a:xfrm>
            <a:off x="6391440" y="2386440"/>
            <a:ext cx="311040" cy="360"/>
          </a:xfrm>
          <a:prstGeom prst="line">
            <a:avLst/>
          </a:prstGeom>
          <a:ln w="19050">
            <a:solidFill>
              <a:srgbClr val="38bd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0" name="Shape 50"/>
          <p:cNvSpPr/>
          <p:nvPr/>
        </p:nvSpPr>
        <p:spPr>
          <a:xfrm>
            <a:off x="6720840" y="1874520"/>
            <a:ext cx="1234080" cy="1023840"/>
          </a:xfrm>
          <a:prstGeom prst="roundRect">
            <a:avLst>
              <a:gd name="adj" fmla="val 7143"/>
            </a:avLst>
          </a:prstGeom>
          <a:solidFill>
            <a:srgbClr val="10243a"/>
          </a:solidFill>
          <a:ln w="15240">
            <a:solidFill>
              <a:srgbClr val="22d3ee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1" name="Text 51"/>
          <p:cNvSpPr/>
          <p:nvPr/>
        </p:nvSpPr>
        <p:spPr>
          <a:xfrm>
            <a:off x="6812280" y="1984320"/>
            <a:ext cx="1051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Input Gate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 52"/>
          <p:cNvSpPr/>
          <p:nvPr/>
        </p:nvSpPr>
        <p:spPr>
          <a:xfrm>
            <a:off x="6812280" y="2267640"/>
            <a:ext cx="1051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iₜ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3" name="Shape 53"/>
          <p:cNvSpPr/>
          <p:nvPr/>
        </p:nvSpPr>
        <p:spPr>
          <a:xfrm>
            <a:off x="7964280" y="2386440"/>
            <a:ext cx="311040" cy="360"/>
          </a:xfrm>
          <a:prstGeom prst="line">
            <a:avLst/>
          </a:prstGeom>
          <a:ln w="19050">
            <a:solidFill>
              <a:srgbClr val="35e6a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4" name="Shape 54"/>
          <p:cNvSpPr/>
          <p:nvPr/>
        </p:nvSpPr>
        <p:spPr>
          <a:xfrm>
            <a:off x="8293680" y="1874520"/>
            <a:ext cx="1234080" cy="1023840"/>
          </a:xfrm>
          <a:prstGeom prst="roundRect">
            <a:avLst>
              <a:gd name="adj" fmla="val 7143"/>
            </a:avLst>
          </a:prstGeom>
          <a:solidFill>
            <a:srgbClr val="10243a"/>
          </a:solidFill>
          <a:ln w="15240">
            <a:solidFill>
              <a:srgbClr val="35e6a3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5" name="Text 55"/>
          <p:cNvSpPr/>
          <p:nvPr/>
        </p:nvSpPr>
        <p:spPr>
          <a:xfrm>
            <a:off x="8385120" y="1984320"/>
            <a:ext cx="1051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Cell State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6" name="Text 56"/>
          <p:cNvSpPr/>
          <p:nvPr/>
        </p:nvSpPr>
        <p:spPr>
          <a:xfrm>
            <a:off x="8385120" y="2267640"/>
            <a:ext cx="1051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cₜ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7" name="Shape 57"/>
          <p:cNvSpPr/>
          <p:nvPr/>
        </p:nvSpPr>
        <p:spPr>
          <a:xfrm>
            <a:off x="9537120" y="2386440"/>
            <a:ext cx="310680" cy="360"/>
          </a:xfrm>
          <a:prstGeom prst="line">
            <a:avLst/>
          </a:prstGeom>
          <a:ln w="19050">
            <a:solidFill>
              <a:srgbClr val="38bd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8" name="Shape 58"/>
          <p:cNvSpPr/>
          <p:nvPr/>
        </p:nvSpPr>
        <p:spPr>
          <a:xfrm>
            <a:off x="9866520" y="1874520"/>
            <a:ext cx="1234080" cy="1023840"/>
          </a:xfrm>
          <a:prstGeom prst="roundRect">
            <a:avLst>
              <a:gd name="adj" fmla="val 7143"/>
            </a:avLst>
          </a:prstGeom>
          <a:solidFill>
            <a:srgbClr val="10243a"/>
          </a:solidFill>
          <a:ln w="15240">
            <a:solidFill>
              <a:srgbClr val="22d3ee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 59"/>
          <p:cNvSpPr/>
          <p:nvPr/>
        </p:nvSpPr>
        <p:spPr>
          <a:xfrm>
            <a:off x="9957960" y="1984320"/>
            <a:ext cx="1051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Output Gate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 60"/>
          <p:cNvSpPr/>
          <p:nvPr/>
        </p:nvSpPr>
        <p:spPr>
          <a:xfrm>
            <a:off x="9957960" y="2267640"/>
            <a:ext cx="1051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oₜ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1" name="Shape 61"/>
          <p:cNvSpPr/>
          <p:nvPr/>
        </p:nvSpPr>
        <p:spPr>
          <a:xfrm>
            <a:off x="5212080" y="3822120"/>
            <a:ext cx="1133640" cy="712800"/>
          </a:xfrm>
          <a:prstGeom prst="roundRect">
            <a:avLst>
              <a:gd name="adj" fmla="val 10256"/>
            </a:avLst>
          </a:prstGeom>
          <a:solidFill>
            <a:srgbClr val="10243a"/>
          </a:solidFill>
          <a:ln w="15240">
            <a:solidFill>
              <a:srgbClr val="38bdf8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 62"/>
          <p:cNvSpPr/>
          <p:nvPr/>
        </p:nvSpPr>
        <p:spPr>
          <a:xfrm>
            <a:off x="5303520" y="3931920"/>
            <a:ext cx="950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Input xₜ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 63"/>
          <p:cNvSpPr/>
          <p:nvPr/>
        </p:nvSpPr>
        <p:spPr>
          <a:xfrm>
            <a:off x="5303520" y="4215240"/>
            <a:ext cx="950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current feature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4" name="Shape 64"/>
          <p:cNvSpPr/>
          <p:nvPr/>
        </p:nvSpPr>
        <p:spPr>
          <a:xfrm flipV="1">
            <a:off x="6355080" y="3026520"/>
            <a:ext cx="3200400" cy="1143000"/>
          </a:xfrm>
          <a:prstGeom prst="line">
            <a:avLst/>
          </a:prstGeom>
          <a:ln w="19050">
            <a:solidFill>
              <a:srgbClr val="38bd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5" name="Shape 65"/>
          <p:cNvSpPr/>
          <p:nvPr/>
        </p:nvSpPr>
        <p:spPr>
          <a:xfrm>
            <a:off x="9784080" y="3822120"/>
            <a:ext cx="1416960" cy="712800"/>
          </a:xfrm>
          <a:prstGeom prst="roundRect">
            <a:avLst>
              <a:gd name="adj" fmla="val 10256"/>
            </a:avLst>
          </a:prstGeom>
          <a:solidFill>
            <a:srgbClr val="10243a"/>
          </a:solidFill>
          <a:ln w="15240">
            <a:solidFill>
              <a:srgbClr val="35e6a3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 66"/>
          <p:cNvSpPr/>
          <p:nvPr/>
        </p:nvSpPr>
        <p:spPr>
          <a:xfrm>
            <a:off x="9875520" y="3931920"/>
            <a:ext cx="123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Prediction ŷₜ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 67"/>
          <p:cNvSpPr/>
          <p:nvPr/>
        </p:nvSpPr>
        <p:spPr>
          <a:xfrm>
            <a:off x="9875520" y="4215240"/>
            <a:ext cx="1234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estimated Close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8" name="Shape 68"/>
          <p:cNvSpPr/>
          <p:nvPr/>
        </p:nvSpPr>
        <p:spPr>
          <a:xfrm>
            <a:off x="9235440" y="2898360"/>
            <a:ext cx="914400" cy="914400"/>
          </a:xfrm>
          <a:prstGeom prst="line">
            <a:avLst/>
          </a:prstGeom>
          <a:ln w="19050">
            <a:solidFill>
              <a:srgbClr val="35e6a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9" name="Shape 69"/>
          <p:cNvSpPr/>
          <p:nvPr/>
        </p:nvSpPr>
        <p:spPr>
          <a:xfrm>
            <a:off x="594360" y="4498920"/>
            <a:ext cx="8412120" cy="123408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0" name="Shape 70"/>
          <p:cNvSpPr/>
          <p:nvPr/>
        </p:nvSpPr>
        <p:spPr>
          <a:xfrm>
            <a:off x="594360" y="4498920"/>
            <a:ext cx="50040" cy="12340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 71"/>
          <p:cNvSpPr/>
          <p:nvPr/>
        </p:nvSpPr>
        <p:spPr>
          <a:xfrm>
            <a:off x="841320" y="4700160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11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KEY EQUATIONS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 72"/>
          <p:cNvSpPr/>
          <p:nvPr/>
        </p:nvSpPr>
        <p:spPr>
          <a:xfrm>
            <a:off x="841320" y="5139000"/>
            <a:ext cx="78818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6faff"/>
                </a:solidFill>
                <a:effectLst/>
                <a:uFillTx/>
                <a:latin typeface="Cambria Math"/>
                <a:ea typeface="Cambria Math"/>
              </a:rPr>
              <a:t>fₜ = σ(Wf·[hₜ₋₁, xₜ] + bf)     iₜ = σ(Wi·[hₜ₋₁, xₜ] + bi)     cₜ = fₜ⊙cₜ₋₁ + iₜ⊙c̃ₜ     hₜ = oₜ⊙tanh(cₜ)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3" name="Shape 73"/>
          <p:cNvSpPr/>
          <p:nvPr/>
        </p:nvSpPr>
        <p:spPr>
          <a:xfrm>
            <a:off x="9372600" y="4663440"/>
            <a:ext cx="2239920" cy="95976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4" name="Shape 74"/>
          <p:cNvSpPr/>
          <p:nvPr/>
        </p:nvSpPr>
        <p:spPr>
          <a:xfrm>
            <a:off x="9372600" y="4663440"/>
            <a:ext cx="50040" cy="959760"/>
          </a:xfrm>
          <a:prstGeom prst="rect">
            <a:avLst/>
          </a:prstGeom>
          <a:solidFill>
            <a:srgbClr val="35e6a3"/>
          </a:solidFill>
          <a:ln w="12700">
            <a:solidFill>
              <a:srgbClr val="35e6a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 75"/>
          <p:cNvSpPr/>
          <p:nvPr/>
        </p:nvSpPr>
        <p:spPr>
          <a:xfrm>
            <a:off x="9601200" y="4892040"/>
            <a:ext cx="17827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35e6a3"/>
                </a:solidFill>
                <a:effectLst/>
                <a:uFillTx/>
                <a:latin typeface="Aptos"/>
              </a:rPr>
              <a:t>Memory path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 76"/>
          <p:cNvSpPr/>
          <p:nvPr/>
        </p:nvSpPr>
        <p:spPr>
          <a:xfrm>
            <a:off x="9601200" y="5230440"/>
            <a:ext cx="17827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selective retention over time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8" name="Shape 1"/>
          <p:cNvSpPr/>
          <p:nvPr/>
        </p:nvSpPr>
        <p:spPr>
          <a:xfrm>
            <a:off x="5029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9" name="Shape 2"/>
          <p:cNvSpPr/>
          <p:nvPr/>
        </p:nvSpPr>
        <p:spPr>
          <a:xfrm>
            <a:off x="10058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0" name="Shape 3"/>
          <p:cNvSpPr/>
          <p:nvPr/>
        </p:nvSpPr>
        <p:spPr>
          <a:xfrm>
            <a:off x="15087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1" name="Shape 4"/>
          <p:cNvSpPr/>
          <p:nvPr/>
        </p:nvSpPr>
        <p:spPr>
          <a:xfrm>
            <a:off x="20116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2" name="Shape 5"/>
          <p:cNvSpPr/>
          <p:nvPr/>
        </p:nvSpPr>
        <p:spPr>
          <a:xfrm>
            <a:off x="25146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3" name="Shape 6"/>
          <p:cNvSpPr/>
          <p:nvPr/>
        </p:nvSpPr>
        <p:spPr>
          <a:xfrm>
            <a:off x="30175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4" name="Shape 7"/>
          <p:cNvSpPr/>
          <p:nvPr/>
        </p:nvSpPr>
        <p:spPr>
          <a:xfrm>
            <a:off x="35204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5" name="Shape 8"/>
          <p:cNvSpPr/>
          <p:nvPr/>
        </p:nvSpPr>
        <p:spPr>
          <a:xfrm>
            <a:off x="40233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6" name="Shape 9"/>
          <p:cNvSpPr/>
          <p:nvPr/>
        </p:nvSpPr>
        <p:spPr>
          <a:xfrm>
            <a:off x="45262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7" name="Shape 10"/>
          <p:cNvSpPr/>
          <p:nvPr/>
        </p:nvSpPr>
        <p:spPr>
          <a:xfrm>
            <a:off x="50292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8" name="Shape 11"/>
          <p:cNvSpPr/>
          <p:nvPr/>
        </p:nvSpPr>
        <p:spPr>
          <a:xfrm>
            <a:off x="55321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9" name="Shape 12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0" name="Shape 13"/>
          <p:cNvSpPr/>
          <p:nvPr/>
        </p:nvSpPr>
        <p:spPr>
          <a:xfrm>
            <a:off x="65379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1" name="Shape 14"/>
          <p:cNvSpPr/>
          <p:nvPr/>
        </p:nvSpPr>
        <p:spPr>
          <a:xfrm>
            <a:off x="70408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2" name="Shape 15"/>
          <p:cNvSpPr/>
          <p:nvPr/>
        </p:nvSpPr>
        <p:spPr>
          <a:xfrm>
            <a:off x="75438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3" name="Shape 16"/>
          <p:cNvSpPr/>
          <p:nvPr/>
        </p:nvSpPr>
        <p:spPr>
          <a:xfrm>
            <a:off x="80467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4" name="Shape 17"/>
          <p:cNvSpPr/>
          <p:nvPr/>
        </p:nvSpPr>
        <p:spPr>
          <a:xfrm>
            <a:off x="85496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5" name="Shape 18"/>
          <p:cNvSpPr/>
          <p:nvPr/>
        </p:nvSpPr>
        <p:spPr>
          <a:xfrm>
            <a:off x="90525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6" name="Shape 19"/>
          <p:cNvSpPr/>
          <p:nvPr/>
        </p:nvSpPr>
        <p:spPr>
          <a:xfrm>
            <a:off x="95554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7" name="Shape 20"/>
          <p:cNvSpPr/>
          <p:nvPr/>
        </p:nvSpPr>
        <p:spPr>
          <a:xfrm>
            <a:off x="100584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8" name="Shape 21"/>
          <p:cNvSpPr/>
          <p:nvPr/>
        </p:nvSpPr>
        <p:spPr>
          <a:xfrm>
            <a:off x="105613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9" name="Shape 22"/>
          <p:cNvSpPr/>
          <p:nvPr/>
        </p:nvSpPr>
        <p:spPr>
          <a:xfrm>
            <a:off x="110642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0" name="Shape 23"/>
          <p:cNvSpPr/>
          <p:nvPr/>
        </p:nvSpPr>
        <p:spPr>
          <a:xfrm>
            <a:off x="115671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1" name="Shape 24"/>
          <p:cNvSpPr/>
          <p:nvPr/>
        </p:nvSpPr>
        <p:spPr>
          <a:xfrm>
            <a:off x="120700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2" name="Shape 25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3" name="Shape 26"/>
          <p:cNvSpPr/>
          <p:nvPr/>
        </p:nvSpPr>
        <p:spPr>
          <a:xfrm>
            <a:off x="0" y="5029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4" name="Shape 27"/>
          <p:cNvSpPr/>
          <p:nvPr/>
        </p:nvSpPr>
        <p:spPr>
          <a:xfrm>
            <a:off x="0" y="10058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5" name="Shape 28"/>
          <p:cNvSpPr/>
          <p:nvPr/>
        </p:nvSpPr>
        <p:spPr>
          <a:xfrm>
            <a:off x="0" y="15087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6" name="Shape 29"/>
          <p:cNvSpPr/>
          <p:nvPr/>
        </p:nvSpPr>
        <p:spPr>
          <a:xfrm>
            <a:off x="0" y="201168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7" name="Shape 30"/>
          <p:cNvSpPr/>
          <p:nvPr/>
        </p:nvSpPr>
        <p:spPr>
          <a:xfrm>
            <a:off x="0" y="251460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8" name="Shape 31"/>
          <p:cNvSpPr/>
          <p:nvPr/>
        </p:nvSpPr>
        <p:spPr>
          <a:xfrm>
            <a:off x="0" y="30175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9" name="Shape 32"/>
          <p:cNvSpPr/>
          <p:nvPr/>
        </p:nvSpPr>
        <p:spPr>
          <a:xfrm>
            <a:off x="0" y="35204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0" name="Shape 33"/>
          <p:cNvSpPr/>
          <p:nvPr/>
        </p:nvSpPr>
        <p:spPr>
          <a:xfrm>
            <a:off x="0" y="40233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1" name="Shape 34"/>
          <p:cNvSpPr/>
          <p:nvPr/>
        </p:nvSpPr>
        <p:spPr>
          <a:xfrm>
            <a:off x="0" y="452628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2" name="Shape 35"/>
          <p:cNvSpPr/>
          <p:nvPr/>
        </p:nvSpPr>
        <p:spPr>
          <a:xfrm>
            <a:off x="0" y="502920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3" name="Shape 36"/>
          <p:cNvSpPr/>
          <p:nvPr/>
        </p:nvSpPr>
        <p:spPr>
          <a:xfrm>
            <a:off x="0" y="55321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4" name="Shape 37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5" name="Shape 38"/>
          <p:cNvSpPr/>
          <p:nvPr/>
        </p:nvSpPr>
        <p:spPr>
          <a:xfrm>
            <a:off x="0" y="65379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6" name="Text 39"/>
          <p:cNvSpPr/>
          <p:nvPr/>
        </p:nvSpPr>
        <p:spPr>
          <a:xfrm>
            <a:off x="502920" y="292680"/>
            <a:ext cx="502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39" strike="noStrike" u="none">
                <a:solidFill>
                  <a:srgbClr val="35e6a3"/>
                </a:solidFill>
                <a:effectLst/>
                <a:uFillTx/>
                <a:latin typeface="Aptos"/>
                <a:ea typeface="Aptos"/>
              </a:rPr>
              <a:t>10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 40"/>
          <p:cNvSpPr/>
          <p:nvPr/>
        </p:nvSpPr>
        <p:spPr>
          <a:xfrm>
            <a:off x="1078920" y="29268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59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GATED RECURRENT UNIT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8" name="Text 41"/>
          <p:cNvSpPr/>
          <p:nvPr/>
        </p:nvSpPr>
        <p:spPr>
          <a:xfrm>
            <a:off x="502920" y="65844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GRU Model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9" name="Shape 42"/>
          <p:cNvSpPr/>
          <p:nvPr/>
        </p:nvSpPr>
        <p:spPr>
          <a:xfrm>
            <a:off x="502920" y="1298160"/>
            <a:ext cx="11155680" cy="360"/>
          </a:xfrm>
          <a:prstGeom prst="line">
            <a:avLst/>
          </a:prstGeom>
          <a:ln w="12700">
            <a:solidFill>
              <a:srgbClr val="1b3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0" name="Shape 43"/>
          <p:cNvSpPr/>
          <p:nvPr/>
        </p:nvSpPr>
        <p:spPr>
          <a:xfrm>
            <a:off x="502920" y="1298160"/>
            <a:ext cx="1234440" cy="360"/>
          </a:xfrm>
          <a:prstGeom prst="line">
            <a:avLst/>
          </a:prstGeom>
          <a:ln w="381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1" name="Text 44"/>
          <p:cNvSpPr/>
          <p:nvPr/>
        </p:nvSpPr>
        <p:spPr>
          <a:xfrm>
            <a:off x="7955280" y="6519600"/>
            <a:ext cx="3702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99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AI STOCK PRICE PREDICTOR  /  LSTM + GRU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2" name="Shape 45"/>
          <p:cNvSpPr/>
          <p:nvPr/>
        </p:nvSpPr>
        <p:spPr>
          <a:xfrm>
            <a:off x="567000" y="1645920"/>
            <a:ext cx="4708800" cy="191988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3" name="Shape 46"/>
          <p:cNvSpPr/>
          <p:nvPr/>
        </p:nvSpPr>
        <p:spPr>
          <a:xfrm>
            <a:off x="567000" y="1645920"/>
            <a:ext cx="50040" cy="19198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Text 47"/>
          <p:cNvSpPr/>
          <p:nvPr/>
        </p:nvSpPr>
        <p:spPr>
          <a:xfrm>
            <a:off x="822960" y="1874520"/>
            <a:ext cx="416016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t">
            <a:normAutofit/>
          </a:bodyPr>
          <a:p>
            <a:pPr marL="203040" indent="-203040" defTabSz="914400">
              <a:lnSpc>
                <a:spcPct val="100000"/>
              </a:lnSpc>
              <a:buClr>
                <a:srgbClr val="d9e7f2"/>
              </a:buClr>
              <a:buFont typeface="Symbol" charset="2"/>
              <a:buChar char=""/>
            </a:pPr>
            <a:r>
              <a:rPr b="0" lang="en-US" sz="1450" strike="noStrike" u="none">
                <a:solidFill>
                  <a:srgbClr val="d9e7f2"/>
                </a:solidFill>
                <a:effectLst/>
                <a:uFillTx/>
                <a:latin typeface="Aptos"/>
              </a:rPr>
              <a:t>Simplified gated recurrent architecture</a:t>
            </a:r>
            <a:endParaRPr b="0" lang="en-US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d9e7f2"/>
              </a:buClr>
              <a:buFont typeface="Symbol" charset="2"/>
              <a:buChar char=""/>
            </a:pPr>
            <a:r>
              <a:rPr b="0" lang="en-US" sz="1450" strike="noStrike" u="none">
                <a:solidFill>
                  <a:srgbClr val="d9e7f2"/>
                </a:solidFill>
                <a:effectLst/>
                <a:uFillTx/>
                <a:latin typeface="Aptos"/>
              </a:rPr>
              <a:t>Uses reset and update gates</a:t>
            </a:r>
            <a:endParaRPr b="0" lang="en-US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d9e7f2"/>
              </a:buClr>
              <a:buFont typeface="Symbol" charset="2"/>
              <a:buChar char=""/>
            </a:pPr>
            <a:r>
              <a:rPr b="0" lang="en-US" sz="1450" strike="noStrike" u="none">
                <a:solidFill>
                  <a:srgbClr val="d9e7f2"/>
                </a:solidFill>
                <a:effectLst/>
                <a:uFillTx/>
                <a:latin typeface="Aptos"/>
              </a:rPr>
              <a:t>Combines memory into the hidden state</a:t>
            </a:r>
            <a:endParaRPr b="0" lang="en-US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d9e7f2"/>
              </a:buClr>
              <a:buFont typeface="Symbol" charset="2"/>
              <a:buChar char=""/>
            </a:pPr>
            <a:r>
              <a:rPr b="0" lang="en-US" sz="1450" strike="noStrike" u="none">
                <a:solidFill>
                  <a:srgbClr val="d9e7f2"/>
                </a:solidFill>
                <a:effectLst/>
                <a:uFillTx/>
                <a:latin typeface="Aptos"/>
              </a:rPr>
              <a:t>Typically has fewer parameters than LSTM</a:t>
            </a:r>
            <a:endParaRPr b="0" lang="en-US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d9e7f2"/>
              </a:buClr>
              <a:buFont typeface="Symbol" charset="2"/>
              <a:buChar char=""/>
            </a:pPr>
            <a:r>
              <a:rPr b="0" lang="en-US" sz="1450" strike="noStrike" u="none">
                <a:solidFill>
                  <a:srgbClr val="d9e7f2"/>
                </a:solidFill>
                <a:effectLst/>
                <a:uFillTx/>
                <a:latin typeface="Aptos"/>
              </a:rPr>
              <a:t>Suitable for efficient sequence prediction</a:t>
            </a:r>
            <a:endParaRPr b="0" lang="en-US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5" name="Shape 48"/>
          <p:cNvSpPr/>
          <p:nvPr/>
        </p:nvSpPr>
        <p:spPr>
          <a:xfrm>
            <a:off x="5715000" y="1993320"/>
            <a:ext cx="1142640" cy="776880"/>
          </a:xfrm>
          <a:prstGeom prst="roundRect">
            <a:avLst>
              <a:gd name="adj" fmla="val 9412"/>
            </a:avLst>
          </a:prstGeom>
          <a:solidFill>
            <a:srgbClr val="10243a"/>
          </a:solidFill>
          <a:ln w="15240">
            <a:solidFill>
              <a:srgbClr val="38bdf8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6" name="Text 49"/>
          <p:cNvSpPr/>
          <p:nvPr/>
        </p:nvSpPr>
        <p:spPr>
          <a:xfrm>
            <a:off x="5806440" y="2103120"/>
            <a:ext cx="959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Input xₜ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7" name="Text 50"/>
          <p:cNvSpPr/>
          <p:nvPr/>
        </p:nvSpPr>
        <p:spPr>
          <a:xfrm>
            <a:off x="5806440" y="2386440"/>
            <a:ext cx="959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current feature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8" name="Shape 51"/>
          <p:cNvSpPr/>
          <p:nvPr/>
        </p:nvSpPr>
        <p:spPr>
          <a:xfrm>
            <a:off x="6858000" y="2386440"/>
            <a:ext cx="429480" cy="360"/>
          </a:xfrm>
          <a:prstGeom prst="line">
            <a:avLst/>
          </a:prstGeom>
          <a:ln w="19050">
            <a:solidFill>
              <a:srgbClr val="38bd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9" name="Shape 52"/>
          <p:cNvSpPr/>
          <p:nvPr/>
        </p:nvSpPr>
        <p:spPr>
          <a:xfrm>
            <a:off x="7315200" y="1755720"/>
            <a:ext cx="1874160" cy="1243080"/>
          </a:xfrm>
          <a:prstGeom prst="roundRect">
            <a:avLst>
              <a:gd name="adj" fmla="val 5882"/>
            </a:avLst>
          </a:prstGeom>
          <a:solidFill>
            <a:srgbClr val="10243a"/>
          </a:solidFill>
          <a:ln w="15240">
            <a:solidFill>
              <a:srgbClr val="22d3ee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0" name="Text 53"/>
          <p:cNvSpPr/>
          <p:nvPr/>
        </p:nvSpPr>
        <p:spPr>
          <a:xfrm>
            <a:off x="7406640" y="1865520"/>
            <a:ext cx="1691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Reset + Update Gates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1" name="Text 54"/>
          <p:cNvSpPr/>
          <p:nvPr/>
        </p:nvSpPr>
        <p:spPr>
          <a:xfrm>
            <a:off x="7406640" y="2148840"/>
            <a:ext cx="16912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rₜ  ·  zₜ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2" name="Shape 55"/>
          <p:cNvSpPr/>
          <p:nvPr/>
        </p:nvSpPr>
        <p:spPr>
          <a:xfrm>
            <a:off x="9198720" y="2386440"/>
            <a:ext cx="429840" cy="360"/>
          </a:xfrm>
          <a:prstGeom prst="line">
            <a:avLst/>
          </a:prstGeom>
          <a:ln w="19050">
            <a:solidFill>
              <a:srgbClr val="35e6a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3" name="Shape 56"/>
          <p:cNvSpPr/>
          <p:nvPr/>
        </p:nvSpPr>
        <p:spPr>
          <a:xfrm>
            <a:off x="9646920" y="1993320"/>
            <a:ext cx="1416960" cy="776880"/>
          </a:xfrm>
          <a:prstGeom prst="roundRect">
            <a:avLst>
              <a:gd name="adj" fmla="val 9412"/>
            </a:avLst>
          </a:prstGeom>
          <a:solidFill>
            <a:srgbClr val="10243a"/>
          </a:solidFill>
          <a:ln w="15240">
            <a:solidFill>
              <a:srgbClr val="35e6a3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4" name="Text 57"/>
          <p:cNvSpPr/>
          <p:nvPr/>
        </p:nvSpPr>
        <p:spPr>
          <a:xfrm>
            <a:off x="9738360" y="2103120"/>
            <a:ext cx="123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Hidden State hₜ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 58"/>
          <p:cNvSpPr/>
          <p:nvPr/>
        </p:nvSpPr>
        <p:spPr>
          <a:xfrm>
            <a:off x="9738360" y="2386440"/>
            <a:ext cx="1234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memory + output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6" name="Text 59"/>
          <p:cNvSpPr/>
          <p:nvPr/>
        </p:nvSpPr>
        <p:spPr>
          <a:xfrm>
            <a:off x="567000" y="3895200"/>
            <a:ext cx="11045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LSTM vs GRU — neither is universally superior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7" name="Table 0"/>
          <p:cNvGraphicFramePr/>
          <p:nvPr/>
        </p:nvGraphicFramePr>
        <p:xfrm>
          <a:off x="567000" y="4316040"/>
          <a:ext cx="11045520" cy="1942200"/>
        </p:xfrm>
        <a:graphic>
          <a:graphicData uri="http://schemas.openxmlformats.org/drawingml/2006/table">
            <a:tbl>
              <a:tblPr/>
              <a:tblGrid>
                <a:gridCol w="2103120"/>
                <a:gridCol w="4251960"/>
                <a:gridCol w="4690800"/>
              </a:tblGrid>
              <a:tr h="310680">
                <a:tc>
                  <a:txBody>
                    <a:bodyPr lIns="82080" rIns="82080" tIns="82080" bIns="82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d9e7f2"/>
                          </a:solidFill>
                          <a:effectLst/>
                          <a:uFillTx/>
                          <a:latin typeface="Aptos"/>
                        </a:rPr>
                        <a:t>Dimension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82080" marR="82080">
                    <a:lnL w="8640">
                      <a:solidFill>
                        <a:srgbClr val="1b3a52"/>
                      </a:solidFill>
                      <a:prstDash val="solid"/>
                    </a:lnL>
                    <a:lnR w="8640">
                      <a:solidFill>
                        <a:srgbClr val="1b3a52"/>
                      </a:solidFill>
                      <a:prstDash val="solid"/>
                    </a:lnR>
                    <a:lnT w="8640">
                      <a:solidFill>
                        <a:srgbClr val="1b3a52"/>
                      </a:solidFill>
                      <a:prstDash val="solid"/>
                    </a:lnT>
                    <a:lnB w="8640">
                      <a:solidFill>
                        <a:srgbClr val="1b3a52"/>
                      </a:solidFill>
                      <a:prstDash val="solid"/>
                    </a:lnB>
                    <a:solidFill>
                      <a:srgbClr val="0c1d30"/>
                    </a:solidFill>
                  </a:tcPr>
                </a:tc>
                <a:tc>
                  <a:txBody>
                    <a:bodyPr lIns="82080" rIns="82080" tIns="82080" bIns="82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d9e7f2"/>
                          </a:solidFill>
                          <a:effectLst/>
                          <a:uFillTx/>
                          <a:latin typeface="Aptos"/>
                        </a:rPr>
                        <a:t>LSTM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82080" marR="82080">
                    <a:lnL w="8640">
                      <a:solidFill>
                        <a:srgbClr val="1b3a52"/>
                      </a:solidFill>
                      <a:prstDash val="solid"/>
                    </a:lnL>
                    <a:lnR w="8640">
                      <a:solidFill>
                        <a:srgbClr val="1b3a52"/>
                      </a:solidFill>
                      <a:prstDash val="solid"/>
                    </a:lnR>
                    <a:lnT w="8640">
                      <a:solidFill>
                        <a:srgbClr val="1b3a52"/>
                      </a:solidFill>
                      <a:prstDash val="solid"/>
                    </a:lnT>
                    <a:lnB w="8640">
                      <a:solidFill>
                        <a:srgbClr val="1b3a52"/>
                      </a:solidFill>
                      <a:prstDash val="solid"/>
                    </a:lnB>
                    <a:solidFill>
                      <a:srgbClr val="0c1d30"/>
                    </a:solidFill>
                  </a:tcPr>
                </a:tc>
                <a:tc>
                  <a:txBody>
                    <a:bodyPr lIns="82080" rIns="82080" tIns="82080" bIns="82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d9e7f2"/>
                          </a:solidFill>
                          <a:effectLst/>
                          <a:uFillTx/>
                          <a:latin typeface="Aptos"/>
                        </a:rPr>
                        <a:t>GRU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82080" marR="82080">
                    <a:lnL w="8640">
                      <a:solidFill>
                        <a:srgbClr val="1b3a52"/>
                      </a:solidFill>
                      <a:prstDash val="solid"/>
                    </a:lnL>
                    <a:lnR w="8640">
                      <a:solidFill>
                        <a:srgbClr val="1b3a52"/>
                      </a:solidFill>
                      <a:prstDash val="solid"/>
                    </a:lnR>
                    <a:lnT w="8640">
                      <a:solidFill>
                        <a:srgbClr val="1b3a52"/>
                      </a:solidFill>
                      <a:prstDash val="solid"/>
                    </a:lnT>
                    <a:lnB w="8640">
                      <a:solidFill>
                        <a:srgbClr val="1b3a52"/>
                      </a:solidFill>
                      <a:prstDash val="solid"/>
                    </a:lnB>
                    <a:solidFill>
                      <a:srgbClr val="0c1d30"/>
                    </a:solidFill>
                  </a:tcPr>
                </a:tc>
              </a:tr>
              <a:tr h="310680">
                <a:tc>
                  <a:txBody>
                    <a:bodyPr lIns="82080" rIns="82080" tIns="82080" bIns="82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d9e7f2"/>
                          </a:solidFill>
                          <a:effectLst/>
                          <a:uFillTx/>
                          <a:latin typeface="Aptos"/>
                        </a:rPr>
                        <a:t>Core memory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82080" marR="82080">
                    <a:lnL w="8640">
                      <a:solidFill>
                        <a:srgbClr val="1b3a52"/>
                      </a:solidFill>
                      <a:prstDash val="solid"/>
                    </a:lnL>
                    <a:lnR w="8640">
                      <a:solidFill>
                        <a:srgbClr val="1b3a52"/>
                      </a:solidFill>
                      <a:prstDash val="solid"/>
                    </a:lnR>
                    <a:lnT w="8640">
                      <a:solidFill>
                        <a:srgbClr val="1b3a52"/>
                      </a:solidFill>
                      <a:prstDash val="solid"/>
                    </a:lnT>
                    <a:lnB w="8640">
                      <a:solidFill>
                        <a:srgbClr val="1b3a52"/>
                      </a:solidFill>
                      <a:prstDash val="solid"/>
                    </a:lnB>
                    <a:solidFill>
                      <a:srgbClr val="0c1d30"/>
                    </a:solidFill>
                  </a:tcPr>
                </a:tc>
                <a:tc>
                  <a:txBody>
                    <a:bodyPr lIns="82080" rIns="82080" tIns="82080" bIns="82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d9e7f2"/>
                          </a:solidFill>
                          <a:effectLst/>
                          <a:uFillTx/>
                          <a:latin typeface="Aptos"/>
                        </a:rPr>
                        <a:t>Cell + hidden state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82080" marR="82080">
                    <a:lnL w="8640">
                      <a:solidFill>
                        <a:srgbClr val="1b3a52"/>
                      </a:solidFill>
                      <a:prstDash val="solid"/>
                    </a:lnL>
                    <a:lnR w="8640">
                      <a:solidFill>
                        <a:srgbClr val="1b3a52"/>
                      </a:solidFill>
                      <a:prstDash val="solid"/>
                    </a:lnR>
                    <a:lnT w="8640">
                      <a:solidFill>
                        <a:srgbClr val="1b3a52"/>
                      </a:solidFill>
                      <a:prstDash val="solid"/>
                    </a:lnT>
                    <a:lnB w="8640">
                      <a:solidFill>
                        <a:srgbClr val="1b3a52"/>
                      </a:solidFill>
                      <a:prstDash val="solid"/>
                    </a:lnB>
                    <a:solidFill>
                      <a:srgbClr val="0c1d30"/>
                    </a:solidFill>
                  </a:tcPr>
                </a:tc>
                <a:tc>
                  <a:txBody>
                    <a:bodyPr lIns="82080" rIns="82080" tIns="82080" bIns="82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d9e7f2"/>
                          </a:solidFill>
                          <a:effectLst/>
                          <a:uFillTx/>
                          <a:latin typeface="Aptos"/>
                        </a:rPr>
                        <a:t>Hidden state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82080" marR="82080">
                    <a:lnL w="8640">
                      <a:solidFill>
                        <a:srgbClr val="1b3a52"/>
                      </a:solidFill>
                      <a:prstDash val="solid"/>
                    </a:lnL>
                    <a:lnR w="8640">
                      <a:solidFill>
                        <a:srgbClr val="1b3a52"/>
                      </a:solidFill>
                      <a:prstDash val="solid"/>
                    </a:lnR>
                    <a:lnT w="8640">
                      <a:solidFill>
                        <a:srgbClr val="1b3a52"/>
                      </a:solidFill>
                      <a:prstDash val="solid"/>
                    </a:lnT>
                    <a:lnB w="8640">
                      <a:solidFill>
                        <a:srgbClr val="1b3a52"/>
                      </a:solidFill>
                      <a:prstDash val="solid"/>
                    </a:lnB>
                    <a:solidFill>
                      <a:srgbClr val="0c1d30"/>
                    </a:solidFill>
                  </a:tcPr>
                </a:tc>
              </a:tr>
              <a:tr h="310680">
                <a:tc>
                  <a:txBody>
                    <a:bodyPr lIns="82080" rIns="82080" tIns="82080" bIns="82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d9e7f2"/>
                          </a:solidFill>
                          <a:effectLst/>
                          <a:uFillTx/>
                          <a:latin typeface="Aptos"/>
                        </a:rPr>
                        <a:t>Gates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82080" marR="82080">
                    <a:lnL w="8640">
                      <a:solidFill>
                        <a:srgbClr val="1b3a52"/>
                      </a:solidFill>
                      <a:prstDash val="solid"/>
                    </a:lnL>
                    <a:lnR w="8640">
                      <a:solidFill>
                        <a:srgbClr val="1b3a52"/>
                      </a:solidFill>
                      <a:prstDash val="solid"/>
                    </a:lnR>
                    <a:lnT w="8640">
                      <a:solidFill>
                        <a:srgbClr val="1b3a52"/>
                      </a:solidFill>
                      <a:prstDash val="solid"/>
                    </a:lnT>
                    <a:lnB w="8640">
                      <a:solidFill>
                        <a:srgbClr val="1b3a52"/>
                      </a:solidFill>
                      <a:prstDash val="solid"/>
                    </a:lnB>
                    <a:solidFill>
                      <a:srgbClr val="0c1d30"/>
                    </a:solidFill>
                  </a:tcPr>
                </a:tc>
                <a:tc>
                  <a:txBody>
                    <a:bodyPr lIns="82080" rIns="82080" tIns="82080" bIns="82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d9e7f2"/>
                          </a:solidFill>
                          <a:effectLst/>
                          <a:uFillTx/>
                          <a:latin typeface="Aptos"/>
                        </a:rPr>
                        <a:t>Input, forget, output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82080" marR="82080">
                    <a:lnL w="8640">
                      <a:solidFill>
                        <a:srgbClr val="1b3a52"/>
                      </a:solidFill>
                      <a:prstDash val="solid"/>
                    </a:lnL>
                    <a:lnR w="8640">
                      <a:solidFill>
                        <a:srgbClr val="1b3a52"/>
                      </a:solidFill>
                      <a:prstDash val="solid"/>
                    </a:lnR>
                    <a:lnT w="8640">
                      <a:solidFill>
                        <a:srgbClr val="1b3a52"/>
                      </a:solidFill>
                      <a:prstDash val="solid"/>
                    </a:lnT>
                    <a:lnB w="8640">
                      <a:solidFill>
                        <a:srgbClr val="1b3a52"/>
                      </a:solidFill>
                      <a:prstDash val="solid"/>
                    </a:lnB>
                    <a:solidFill>
                      <a:srgbClr val="0c1d30"/>
                    </a:solidFill>
                  </a:tcPr>
                </a:tc>
                <a:tc>
                  <a:txBody>
                    <a:bodyPr lIns="82080" rIns="82080" tIns="82080" bIns="82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d9e7f2"/>
                          </a:solidFill>
                          <a:effectLst/>
                          <a:uFillTx/>
                          <a:latin typeface="Aptos"/>
                        </a:rPr>
                        <a:t>Reset, update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82080" marR="82080">
                    <a:lnL w="8640">
                      <a:solidFill>
                        <a:srgbClr val="1b3a52"/>
                      </a:solidFill>
                      <a:prstDash val="solid"/>
                    </a:lnL>
                    <a:lnR w="8640">
                      <a:solidFill>
                        <a:srgbClr val="1b3a52"/>
                      </a:solidFill>
                      <a:prstDash val="solid"/>
                    </a:lnR>
                    <a:lnT w="8640">
                      <a:solidFill>
                        <a:srgbClr val="1b3a52"/>
                      </a:solidFill>
                      <a:prstDash val="solid"/>
                    </a:lnT>
                    <a:lnB w="8640">
                      <a:solidFill>
                        <a:srgbClr val="1b3a52"/>
                      </a:solidFill>
                      <a:prstDash val="solid"/>
                    </a:lnB>
                    <a:solidFill>
                      <a:srgbClr val="0c1d30"/>
                    </a:solidFill>
                  </a:tcPr>
                </a:tc>
              </a:tr>
              <a:tr h="310680">
                <a:tc>
                  <a:txBody>
                    <a:bodyPr lIns="82080" rIns="82080" tIns="82080" bIns="82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d9e7f2"/>
                          </a:solidFill>
                          <a:effectLst/>
                          <a:uFillTx/>
                          <a:latin typeface="Aptos"/>
                        </a:rPr>
                        <a:t>Parameters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82080" marR="82080">
                    <a:lnL w="8640">
                      <a:solidFill>
                        <a:srgbClr val="1b3a52"/>
                      </a:solidFill>
                      <a:prstDash val="solid"/>
                    </a:lnL>
                    <a:lnR w="8640">
                      <a:solidFill>
                        <a:srgbClr val="1b3a52"/>
                      </a:solidFill>
                      <a:prstDash val="solid"/>
                    </a:lnR>
                    <a:lnT w="8640">
                      <a:solidFill>
                        <a:srgbClr val="1b3a52"/>
                      </a:solidFill>
                      <a:prstDash val="solid"/>
                    </a:lnT>
                    <a:lnB w="8640">
                      <a:solidFill>
                        <a:srgbClr val="1b3a52"/>
                      </a:solidFill>
                      <a:prstDash val="solid"/>
                    </a:lnB>
                    <a:solidFill>
                      <a:srgbClr val="0c1d30"/>
                    </a:solidFill>
                  </a:tcPr>
                </a:tc>
                <a:tc>
                  <a:txBody>
                    <a:bodyPr lIns="82080" rIns="82080" tIns="82080" bIns="82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d9e7f2"/>
                          </a:solidFill>
                          <a:effectLst/>
                          <a:uFillTx/>
                          <a:latin typeface="Aptos"/>
                        </a:rPr>
                        <a:t>More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82080" marR="82080">
                    <a:lnL w="8640">
                      <a:solidFill>
                        <a:srgbClr val="1b3a52"/>
                      </a:solidFill>
                      <a:prstDash val="solid"/>
                    </a:lnL>
                    <a:lnR w="8640">
                      <a:solidFill>
                        <a:srgbClr val="1b3a52"/>
                      </a:solidFill>
                      <a:prstDash val="solid"/>
                    </a:lnR>
                    <a:lnT w="8640">
                      <a:solidFill>
                        <a:srgbClr val="1b3a52"/>
                      </a:solidFill>
                      <a:prstDash val="solid"/>
                    </a:lnT>
                    <a:lnB w="8640">
                      <a:solidFill>
                        <a:srgbClr val="1b3a52"/>
                      </a:solidFill>
                      <a:prstDash val="solid"/>
                    </a:lnB>
                    <a:solidFill>
                      <a:srgbClr val="0c1d30"/>
                    </a:solidFill>
                  </a:tcPr>
                </a:tc>
                <a:tc>
                  <a:txBody>
                    <a:bodyPr lIns="82080" rIns="82080" tIns="82080" bIns="82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d9e7f2"/>
                          </a:solidFill>
                          <a:effectLst/>
                          <a:uFillTx/>
                          <a:latin typeface="Aptos"/>
                        </a:rPr>
                        <a:t>Fewer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82080" marR="82080">
                    <a:lnL w="8640">
                      <a:solidFill>
                        <a:srgbClr val="1b3a52"/>
                      </a:solidFill>
                      <a:prstDash val="solid"/>
                    </a:lnL>
                    <a:lnR w="8640">
                      <a:solidFill>
                        <a:srgbClr val="1b3a52"/>
                      </a:solidFill>
                      <a:prstDash val="solid"/>
                    </a:lnR>
                    <a:lnT w="8640">
                      <a:solidFill>
                        <a:srgbClr val="1b3a52"/>
                      </a:solidFill>
                      <a:prstDash val="solid"/>
                    </a:lnT>
                    <a:lnB w="8640">
                      <a:solidFill>
                        <a:srgbClr val="1b3a52"/>
                      </a:solidFill>
                      <a:prstDash val="solid"/>
                    </a:lnB>
                    <a:solidFill>
                      <a:srgbClr val="0c1d30"/>
                    </a:solidFill>
                  </a:tcPr>
                </a:tc>
              </a:tr>
              <a:tr h="310680">
                <a:tc>
                  <a:txBody>
                    <a:bodyPr lIns="82080" rIns="82080" tIns="82080" bIns="82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d9e7f2"/>
                          </a:solidFill>
                          <a:effectLst/>
                          <a:uFillTx/>
                          <a:latin typeface="Aptos"/>
                        </a:rPr>
                        <a:t>Training behavior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82080" marR="82080">
                    <a:lnL w="8640">
                      <a:solidFill>
                        <a:srgbClr val="1b3a52"/>
                      </a:solidFill>
                      <a:prstDash val="solid"/>
                    </a:lnL>
                    <a:lnR w="8640">
                      <a:solidFill>
                        <a:srgbClr val="1b3a52"/>
                      </a:solidFill>
                      <a:prstDash val="solid"/>
                    </a:lnR>
                    <a:lnT w="8640">
                      <a:solidFill>
                        <a:srgbClr val="1b3a52"/>
                      </a:solidFill>
                      <a:prstDash val="solid"/>
                    </a:lnT>
                    <a:lnB w="8640">
                      <a:solidFill>
                        <a:srgbClr val="1b3a52"/>
                      </a:solidFill>
                      <a:prstDash val="solid"/>
                    </a:lnB>
                    <a:solidFill>
                      <a:srgbClr val="0c1d30"/>
                    </a:solidFill>
                  </a:tcPr>
                </a:tc>
                <a:tc>
                  <a:txBody>
                    <a:bodyPr lIns="82080" rIns="82080" tIns="82080" bIns="82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d9e7f2"/>
                          </a:solidFill>
                          <a:effectLst/>
                          <a:uFillTx/>
                          <a:latin typeface="Aptos"/>
                        </a:rPr>
                        <a:t>More expressive control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82080" marR="82080">
                    <a:lnL w="8640">
                      <a:solidFill>
                        <a:srgbClr val="1b3a52"/>
                      </a:solidFill>
                      <a:prstDash val="solid"/>
                    </a:lnL>
                    <a:lnR w="8640">
                      <a:solidFill>
                        <a:srgbClr val="1b3a52"/>
                      </a:solidFill>
                      <a:prstDash val="solid"/>
                    </a:lnR>
                    <a:lnT w="8640">
                      <a:solidFill>
                        <a:srgbClr val="1b3a52"/>
                      </a:solidFill>
                      <a:prstDash val="solid"/>
                    </a:lnT>
                    <a:lnB w="8640">
                      <a:solidFill>
                        <a:srgbClr val="1b3a52"/>
                      </a:solidFill>
                      <a:prstDash val="solid"/>
                    </a:lnB>
                    <a:solidFill>
                      <a:srgbClr val="0c1d30"/>
                    </a:solidFill>
                  </a:tcPr>
                </a:tc>
                <a:tc>
                  <a:txBody>
                    <a:bodyPr lIns="82080" rIns="82080" tIns="82080" bIns="82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d9e7f2"/>
                          </a:solidFill>
                          <a:effectLst/>
                          <a:uFillTx/>
                          <a:latin typeface="Aptos"/>
                        </a:rPr>
                        <a:t>Often simpler / faster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82080" marR="82080">
                    <a:lnL w="8640">
                      <a:solidFill>
                        <a:srgbClr val="1b3a52"/>
                      </a:solidFill>
                      <a:prstDash val="solid"/>
                    </a:lnL>
                    <a:lnR w="8640">
                      <a:solidFill>
                        <a:srgbClr val="1b3a52"/>
                      </a:solidFill>
                      <a:prstDash val="solid"/>
                    </a:lnR>
                    <a:lnT w="8640">
                      <a:solidFill>
                        <a:srgbClr val="1b3a52"/>
                      </a:solidFill>
                      <a:prstDash val="solid"/>
                    </a:lnT>
                    <a:lnB w="8640">
                      <a:solidFill>
                        <a:srgbClr val="1b3a52"/>
                      </a:solidFill>
                      <a:prstDash val="solid"/>
                    </a:lnB>
                    <a:solidFill>
                      <a:srgbClr val="0c1d30"/>
                    </a:solidFill>
                  </a:tcPr>
                </a:tc>
              </a:tr>
            </a:tbl>
          </a:graphicData>
        </a:graphic>
      </p:graphicFrame>
      <p:sp>
        <p:nvSpPr>
          <p:cNvPr id="738" name="Shape 60"/>
          <p:cNvSpPr/>
          <p:nvPr/>
        </p:nvSpPr>
        <p:spPr>
          <a:xfrm>
            <a:off x="567000" y="4316040"/>
            <a:ext cx="11045520" cy="310680"/>
          </a:xfrm>
          <a:prstGeom prst="rect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Text 61"/>
          <p:cNvSpPr/>
          <p:nvPr/>
        </p:nvSpPr>
        <p:spPr>
          <a:xfrm>
            <a:off x="567000" y="4407480"/>
            <a:ext cx="21027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Dimension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0" name="Text 62"/>
          <p:cNvSpPr/>
          <p:nvPr/>
        </p:nvSpPr>
        <p:spPr>
          <a:xfrm>
            <a:off x="2670120" y="4407480"/>
            <a:ext cx="42516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LSTM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1" name="Text 63"/>
          <p:cNvSpPr/>
          <p:nvPr/>
        </p:nvSpPr>
        <p:spPr>
          <a:xfrm>
            <a:off x="6922080" y="4407480"/>
            <a:ext cx="46904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GRU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3" name="Shape 1"/>
          <p:cNvSpPr/>
          <p:nvPr/>
        </p:nvSpPr>
        <p:spPr>
          <a:xfrm>
            <a:off x="5029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4" name="Shape 2"/>
          <p:cNvSpPr/>
          <p:nvPr/>
        </p:nvSpPr>
        <p:spPr>
          <a:xfrm>
            <a:off x="10058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5" name="Shape 3"/>
          <p:cNvSpPr/>
          <p:nvPr/>
        </p:nvSpPr>
        <p:spPr>
          <a:xfrm>
            <a:off x="15087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6" name="Shape 4"/>
          <p:cNvSpPr/>
          <p:nvPr/>
        </p:nvSpPr>
        <p:spPr>
          <a:xfrm>
            <a:off x="20116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7" name="Shape 5"/>
          <p:cNvSpPr/>
          <p:nvPr/>
        </p:nvSpPr>
        <p:spPr>
          <a:xfrm>
            <a:off x="25146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8" name="Shape 6"/>
          <p:cNvSpPr/>
          <p:nvPr/>
        </p:nvSpPr>
        <p:spPr>
          <a:xfrm>
            <a:off x="30175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9" name="Shape 7"/>
          <p:cNvSpPr/>
          <p:nvPr/>
        </p:nvSpPr>
        <p:spPr>
          <a:xfrm>
            <a:off x="35204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0" name="Shape 8"/>
          <p:cNvSpPr/>
          <p:nvPr/>
        </p:nvSpPr>
        <p:spPr>
          <a:xfrm>
            <a:off x="40233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1" name="Shape 9"/>
          <p:cNvSpPr/>
          <p:nvPr/>
        </p:nvSpPr>
        <p:spPr>
          <a:xfrm>
            <a:off x="45262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2" name="Shape 10"/>
          <p:cNvSpPr/>
          <p:nvPr/>
        </p:nvSpPr>
        <p:spPr>
          <a:xfrm>
            <a:off x="50292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3" name="Shape 11"/>
          <p:cNvSpPr/>
          <p:nvPr/>
        </p:nvSpPr>
        <p:spPr>
          <a:xfrm>
            <a:off x="55321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4" name="Shape 12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5" name="Shape 13"/>
          <p:cNvSpPr/>
          <p:nvPr/>
        </p:nvSpPr>
        <p:spPr>
          <a:xfrm>
            <a:off x="65379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6" name="Shape 14"/>
          <p:cNvSpPr/>
          <p:nvPr/>
        </p:nvSpPr>
        <p:spPr>
          <a:xfrm>
            <a:off x="70408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7" name="Shape 15"/>
          <p:cNvSpPr/>
          <p:nvPr/>
        </p:nvSpPr>
        <p:spPr>
          <a:xfrm>
            <a:off x="75438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8" name="Shape 16"/>
          <p:cNvSpPr/>
          <p:nvPr/>
        </p:nvSpPr>
        <p:spPr>
          <a:xfrm>
            <a:off x="80467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9" name="Shape 17"/>
          <p:cNvSpPr/>
          <p:nvPr/>
        </p:nvSpPr>
        <p:spPr>
          <a:xfrm>
            <a:off x="85496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0" name="Shape 18"/>
          <p:cNvSpPr/>
          <p:nvPr/>
        </p:nvSpPr>
        <p:spPr>
          <a:xfrm>
            <a:off x="90525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1" name="Shape 19"/>
          <p:cNvSpPr/>
          <p:nvPr/>
        </p:nvSpPr>
        <p:spPr>
          <a:xfrm>
            <a:off x="95554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2" name="Shape 20"/>
          <p:cNvSpPr/>
          <p:nvPr/>
        </p:nvSpPr>
        <p:spPr>
          <a:xfrm>
            <a:off x="100584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3" name="Shape 21"/>
          <p:cNvSpPr/>
          <p:nvPr/>
        </p:nvSpPr>
        <p:spPr>
          <a:xfrm>
            <a:off x="105613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4" name="Shape 22"/>
          <p:cNvSpPr/>
          <p:nvPr/>
        </p:nvSpPr>
        <p:spPr>
          <a:xfrm>
            <a:off x="110642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5" name="Shape 23"/>
          <p:cNvSpPr/>
          <p:nvPr/>
        </p:nvSpPr>
        <p:spPr>
          <a:xfrm>
            <a:off x="115671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6" name="Shape 24"/>
          <p:cNvSpPr/>
          <p:nvPr/>
        </p:nvSpPr>
        <p:spPr>
          <a:xfrm>
            <a:off x="120700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7" name="Shape 25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8" name="Shape 26"/>
          <p:cNvSpPr/>
          <p:nvPr/>
        </p:nvSpPr>
        <p:spPr>
          <a:xfrm>
            <a:off x="0" y="5029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9" name="Shape 27"/>
          <p:cNvSpPr/>
          <p:nvPr/>
        </p:nvSpPr>
        <p:spPr>
          <a:xfrm>
            <a:off x="0" y="10058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0" name="Shape 28"/>
          <p:cNvSpPr/>
          <p:nvPr/>
        </p:nvSpPr>
        <p:spPr>
          <a:xfrm>
            <a:off x="0" y="15087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1" name="Shape 29"/>
          <p:cNvSpPr/>
          <p:nvPr/>
        </p:nvSpPr>
        <p:spPr>
          <a:xfrm>
            <a:off x="0" y="201168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2" name="Shape 30"/>
          <p:cNvSpPr/>
          <p:nvPr/>
        </p:nvSpPr>
        <p:spPr>
          <a:xfrm>
            <a:off x="0" y="251460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3" name="Shape 31"/>
          <p:cNvSpPr/>
          <p:nvPr/>
        </p:nvSpPr>
        <p:spPr>
          <a:xfrm>
            <a:off x="0" y="30175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4" name="Shape 32"/>
          <p:cNvSpPr/>
          <p:nvPr/>
        </p:nvSpPr>
        <p:spPr>
          <a:xfrm>
            <a:off x="0" y="35204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5" name="Shape 33"/>
          <p:cNvSpPr/>
          <p:nvPr/>
        </p:nvSpPr>
        <p:spPr>
          <a:xfrm>
            <a:off x="0" y="40233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6" name="Shape 34"/>
          <p:cNvSpPr/>
          <p:nvPr/>
        </p:nvSpPr>
        <p:spPr>
          <a:xfrm>
            <a:off x="0" y="452628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7" name="Shape 35"/>
          <p:cNvSpPr/>
          <p:nvPr/>
        </p:nvSpPr>
        <p:spPr>
          <a:xfrm>
            <a:off x="0" y="502920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8" name="Shape 36"/>
          <p:cNvSpPr/>
          <p:nvPr/>
        </p:nvSpPr>
        <p:spPr>
          <a:xfrm>
            <a:off x="0" y="55321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9" name="Shape 37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0" name="Shape 38"/>
          <p:cNvSpPr/>
          <p:nvPr/>
        </p:nvSpPr>
        <p:spPr>
          <a:xfrm>
            <a:off x="0" y="65379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1" name="Text 39"/>
          <p:cNvSpPr/>
          <p:nvPr/>
        </p:nvSpPr>
        <p:spPr>
          <a:xfrm>
            <a:off x="502920" y="292680"/>
            <a:ext cx="502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39" strike="noStrike" u="none">
                <a:solidFill>
                  <a:srgbClr val="35e6a3"/>
                </a:solidFill>
                <a:effectLst/>
                <a:uFillTx/>
                <a:latin typeface="Aptos"/>
                <a:ea typeface="Aptos"/>
              </a:rPr>
              <a:t>11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2" name="Text 40"/>
          <p:cNvSpPr/>
          <p:nvPr/>
        </p:nvSpPr>
        <p:spPr>
          <a:xfrm>
            <a:off x="1078920" y="29268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59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END-TO-END APPLICATION FLOW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3" name="Text 41"/>
          <p:cNvSpPr/>
          <p:nvPr/>
        </p:nvSpPr>
        <p:spPr>
          <a:xfrm>
            <a:off x="502920" y="65844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System Architecture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4" name="Shape 42"/>
          <p:cNvSpPr/>
          <p:nvPr/>
        </p:nvSpPr>
        <p:spPr>
          <a:xfrm>
            <a:off x="502920" y="1298160"/>
            <a:ext cx="11155680" cy="360"/>
          </a:xfrm>
          <a:prstGeom prst="line">
            <a:avLst/>
          </a:prstGeom>
          <a:ln w="12700">
            <a:solidFill>
              <a:srgbClr val="1b3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5" name="Shape 43"/>
          <p:cNvSpPr/>
          <p:nvPr/>
        </p:nvSpPr>
        <p:spPr>
          <a:xfrm>
            <a:off x="502920" y="1298160"/>
            <a:ext cx="1234440" cy="360"/>
          </a:xfrm>
          <a:prstGeom prst="line">
            <a:avLst/>
          </a:prstGeom>
          <a:ln w="381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6" name="Text 44"/>
          <p:cNvSpPr/>
          <p:nvPr/>
        </p:nvSpPr>
        <p:spPr>
          <a:xfrm>
            <a:off x="7955280" y="6519600"/>
            <a:ext cx="3702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99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AI STOCK PRICE PREDICTOR  /  LSTM + GRU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7" name="Shape 45"/>
          <p:cNvSpPr/>
          <p:nvPr/>
        </p:nvSpPr>
        <p:spPr>
          <a:xfrm>
            <a:off x="685800" y="1481400"/>
            <a:ext cx="2057040" cy="712800"/>
          </a:xfrm>
          <a:prstGeom prst="roundRect">
            <a:avLst>
              <a:gd name="adj" fmla="val 10256"/>
            </a:avLst>
          </a:prstGeom>
          <a:solidFill>
            <a:srgbClr val="10243a"/>
          </a:solidFill>
          <a:ln w="15240">
            <a:solidFill>
              <a:srgbClr val="35e6a3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8" name="Text 46"/>
          <p:cNvSpPr/>
          <p:nvPr/>
        </p:nvSpPr>
        <p:spPr>
          <a:xfrm>
            <a:off x="777240" y="1591200"/>
            <a:ext cx="1874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Yahoo Finance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9" name="Text 47"/>
          <p:cNvSpPr/>
          <p:nvPr/>
        </p:nvSpPr>
        <p:spPr>
          <a:xfrm>
            <a:off x="777240" y="1874520"/>
            <a:ext cx="1874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yfinance retrieval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0" name="Shape 48"/>
          <p:cNvSpPr/>
          <p:nvPr/>
        </p:nvSpPr>
        <p:spPr>
          <a:xfrm>
            <a:off x="685800" y="2395800"/>
            <a:ext cx="2057040" cy="712800"/>
          </a:xfrm>
          <a:prstGeom prst="roundRect">
            <a:avLst>
              <a:gd name="adj" fmla="val 10256"/>
            </a:avLst>
          </a:prstGeom>
          <a:solidFill>
            <a:srgbClr val="10243a"/>
          </a:solidFill>
          <a:ln w="15240">
            <a:solidFill>
              <a:srgbClr val="38bdf8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1" name="Text 49"/>
          <p:cNvSpPr/>
          <p:nvPr/>
        </p:nvSpPr>
        <p:spPr>
          <a:xfrm>
            <a:off x="777240" y="2505600"/>
            <a:ext cx="1874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CSV Dataset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2" name="Text 50"/>
          <p:cNvSpPr/>
          <p:nvPr/>
        </p:nvSpPr>
        <p:spPr>
          <a:xfrm>
            <a:off x="777240" y="2788920"/>
            <a:ext cx="1874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user upload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3" name="Shape 51"/>
          <p:cNvSpPr/>
          <p:nvPr/>
        </p:nvSpPr>
        <p:spPr>
          <a:xfrm>
            <a:off x="3657600" y="1938600"/>
            <a:ext cx="2057040" cy="712800"/>
          </a:xfrm>
          <a:prstGeom prst="roundRect">
            <a:avLst>
              <a:gd name="adj" fmla="val 10256"/>
            </a:avLst>
          </a:prstGeom>
          <a:solidFill>
            <a:srgbClr val="10243a"/>
          </a:solidFill>
          <a:ln w="15240">
            <a:solidFill>
              <a:srgbClr val="22d3ee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4" name="Text 52"/>
          <p:cNvSpPr/>
          <p:nvPr/>
        </p:nvSpPr>
        <p:spPr>
          <a:xfrm>
            <a:off x="3749040" y="2048400"/>
            <a:ext cx="1874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Flask Backend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5" name="Text 53"/>
          <p:cNvSpPr/>
          <p:nvPr/>
        </p:nvSpPr>
        <p:spPr>
          <a:xfrm>
            <a:off x="3749040" y="2331720"/>
            <a:ext cx="1874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request orchestration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6" name="Shape 54"/>
          <p:cNvSpPr/>
          <p:nvPr/>
        </p:nvSpPr>
        <p:spPr>
          <a:xfrm>
            <a:off x="2743200" y="1837800"/>
            <a:ext cx="914400" cy="384120"/>
          </a:xfrm>
          <a:prstGeom prst="line">
            <a:avLst/>
          </a:prstGeom>
          <a:ln w="19050">
            <a:solidFill>
              <a:srgbClr val="35e6a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7" name="Shape 55"/>
          <p:cNvSpPr/>
          <p:nvPr/>
        </p:nvSpPr>
        <p:spPr>
          <a:xfrm flipV="1">
            <a:off x="2743200" y="2368080"/>
            <a:ext cx="914400" cy="384120"/>
          </a:xfrm>
          <a:prstGeom prst="line">
            <a:avLst/>
          </a:prstGeom>
          <a:ln w="19050">
            <a:solidFill>
              <a:srgbClr val="38bd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8" name="Shape 56"/>
          <p:cNvSpPr/>
          <p:nvPr/>
        </p:nvSpPr>
        <p:spPr>
          <a:xfrm>
            <a:off x="5715000" y="2295000"/>
            <a:ext cx="795240" cy="374760"/>
          </a:xfrm>
          <a:prstGeom prst="line">
            <a:avLst/>
          </a:prstGeom>
          <a:ln w="19050">
            <a:solidFill>
              <a:srgbClr val="22d3e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9" name="Shape 57"/>
          <p:cNvSpPr/>
          <p:nvPr/>
        </p:nvSpPr>
        <p:spPr>
          <a:xfrm>
            <a:off x="5074920" y="2670120"/>
            <a:ext cx="2880000" cy="658080"/>
          </a:xfrm>
          <a:prstGeom prst="roundRect">
            <a:avLst>
              <a:gd name="adj" fmla="val 11111"/>
            </a:avLst>
          </a:prstGeom>
          <a:solidFill>
            <a:srgbClr val="10243a"/>
          </a:solidFill>
          <a:ln w="15240">
            <a:solidFill>
              <a:srgbClr val="22d3ee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0" name="Text 58"/>
          <p:cNvSpPr/>
          <p:nvPr/>
        </p:nvSpPr>
        <p:spPr>
          <a:xfrm>
            <a:off x="5166360" y="2779920"/>
            <a:ext cx="2697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Cleaning &amp; Preprocessing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1" name="Text 59"/>
          <p:cNvSpPr/>
          <p:nvPr/>
        </p:nvSpPr>
        <p:spPr>
          <a:xfrm>
            <a:off x="5166360" y="3063240"/>
            <a:ext cx="2697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chronology · missing values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2" name="Shape 60"/>
          <p:cNvSpPr/>
          <p:nvPr/>
        </p:nvSpPr>
        <p:spPr>
          <a:xfrm>
            <a:off x="6510240" y="3337560"/>
            <a:ext cx="360" cy="246600"/>
          </a:xfrm>
          <a:prstGeom prst="line">
            <a:avLst/>
          </a:prstGeom>
          <a:ln w="19050">
            <a:solidFill>
              <a:srgbClr val="38bd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3" name="Shape 61"/>
          <p:cNvSpPr/>
          <p:nvPr/>
        </p:nvSpPr>
        <p:spPr>
          <a:xfrm>
            <a:off x="5074920" y="3584520"/>
            <a:ext cx="2880000" cy="658080"/>
          </a:xfrm>
          <a:prstGeom prst="roundRect">
            <a:avLst>
              <a:gd name="adj" fmla="val 11111"/>
            </a:avLst>
          </a:prstGeom>
          <a:solidFill>
            <a:srgbClr val="10243a"/>
          </a:solidFill>
          <a:ln w="15240">
            <a:solidFill>
              <a:srgbClr val="35e6a3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4" name="Text 62"/>
          <p:cNvSpPr/>
          <p:nvPr/>
        </p:nvSpPr>
        <p:spPr>
          <a:xfrm>
            <a:off x="5166360" y="3694320"/>
            <a:ext cx="2697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MinMaxScaler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5" name="Text 63"/>
          <p:cNvSpPr/>
          <p:nvPr/>
        </p:nvSpPr>
        <p:spPr>
          <a:xfrm>
            <a:off x="5166360" y="3977640"/>
            <a:ext cx="2697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training partition only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6" name="Shape 64"/>
          <p:cNvSpPr/>
          <p:nvPr/>
        </p:nvSpPr>
        <p:spPr>
          <a:xfrm>
            <a:off x="6510240" y="4251960"/>
            <a:ext cx="360" cy="246600"/>
          </a:xfrm>
          <a:prstGeom prst="line">
            <a:avLst/>
          </a:prstGeom>
          <a:ln w="19050">
            <a:solidFill>
              <a:srgbClr val="38bd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7" name="Shape 65"/>
          <p:cNvSpPr/>
          <p:nvPr/>
        </p:nvSpPr>
        <p:spPr>
          <a:xfrm>
            <a:off x="5074920" y="4498920"/>
            <a:ext cx="2880000" cy="658080"/>
          </a:xfrm>
          <a:prstGeom prst="roundRect">
            <a:avLst>
              <a:gd name="adj" fmla="val 11111"/>
            </a:avLst>
          </a:prstGeom>
          <a:solidFill>
            <a:srgbClr val="10243a"/>
          </a:solidFill>
          <a:ln w="15240">
            <a:solidFill>
              <a:srgbClr val="22d3ee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8" name="Text 66"/>
          <p:cNvSpPr/>
          <p:nvPr/>
        </p:nvSpPr>
        <p:spPr>
          <a:xfrm>
            <a:off x="5166360" y="4608720"/>
            <a:ext cx="2697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Sequence Generator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9" name="Text 67"/>
          <p:cNvSpPr/>
          <p:nvPr/>
        </p:nvSpPr>
        <p:spPr>
          <a:xfrm>
            <a:off x="5166360" y="4892040"/>
            <a:ext cx="2697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sliding windows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0" name="Shape 68"/>
          <p:cNvSpPr/>
          <p:nvPr/>
        </p:nvSpPr>
        <p:spPr>
          <a:xfrm>
            <a:off x="1234440" y="3858840"/>
            <a:ext cx="2102760" cy="749520"/>
          </a:xfrm>
          <a:prstGeom prst="roundRect">
            <a:avLst>
              <a:gd name="adj" fmla="val 9756"/>
            </a:avLst>
          </a:prstGeom>
          <a:solidFill>
            <a:srgbClr val="10243a"/>
          </a:solidFill>
          <a:ln w="15240">
            <a:solidFill>
              <a:srgbClr val="22d3ee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1" name="Text 69"/>
          <p:cNvSpPr/>
          <p:nvPr/>
        </p:nvSpPr>
        <p:spPr>
          <a:xfrm>
            <a:off x="1325880" y="3968640"/>
            <a:ext cx="1919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LSTM Model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2" name="Text 70"/>
          <p:cNvSpPr/>
          <p:nvPr/>
        </p:nvSpPr>
        <p:spPr>
          <a:xfrm>
            <a:off x="1325880" y="425196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recurrent memory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3" name="Shape 71"/>
          <p:cNvSpPr/>
          <p:nvPr/>
        </p:nvSpPr>
        <p:spPr>
          <a:xfrm>
            <a:off x="8851320" y="3858840"/>
            <a:ext cx="2102760" cy="749520"/>
          </a:xfrm>
          <a:prstGeom prst="roundRect">
            <a:avLst>
              <a:gd name="adj" fmla="val 9756"/>
            </a:avLst>
          </a:prstGeom>
          <a:solidFill>
            <a:srgbClr val="10243a"/>
          </a:solidFill>
          <a:ln w="15240">
            <a:solidFill>
              <a:srgbClr val="35e6a3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4" name="Text 72"/>
          <p:cNvSpPr/>
          <p:nvPr/>
        </p:nvSpPr>
        <p:spPr>
          <a:xfrm>
            <a:off x="8942760" y="3968640"/>
            <a:ext cx="1919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GRU Model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5" name="Text 73"/>
          <p:cNvSpPr/>
          <p:nvPr/>
        </p:nvSpPr>
        <p:spPr>
          <a:xfrm>
            <a:off x="8942760" y="425196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gated hidden state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6" name="Shape 74"/>
          <p:cNvSpPr/>
          <p:nvPr/>
        </p:nvSpPr>
        <p:spPr>
          <a:xfrm flipH="1">
            <a:off x="3337560" y="4251960"/>
            <a:ext cx="1737360" cy="360"/>
          </a:xfrm>
          <a:prstGeom prst="line">
            <a:avLst/>
          </a:prstGeom>
          <a:ln w="19050">
            <a:solidFill>
              <a:srgbClr val="22d3e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7" name="Shape 75"/>
          <p:cNvSpPr/>
          <p:nvPr/>
        </p:nvSpPr>
        <p:spPr>
          <a:xfrm>
            <a:off x="7955280" y="4251960"/>
            <a:ext cx="896040" cy="360"/>
          </a:xfrm>
          <a:prstGeom prst="line">
            <a:avLst/>
          </a:prstGeom>
          <a:ln w="19050">
            <a:solidFill>
              <a:srgbClr val="35e6a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8" name="Shape 76"/>
          <p:cNvSpPr/>
          <p:nvPr/>
        </p:nvSpPr>
        <p:spPr>
          <a:xfrm>
            <a:off x="4526280" y="5102280"/>
            <a:ext cx="3154320" cy="603000"/>
          </a:xfrm>
          <a:prstGeom prst="roundRect">
            <a:avLst>
              <a:gd name="adj" fmla="val 12121"/>
            </a:avLst>
          </a:prstGeom>
          <a:solidFill>
            <a:srgbClr val="10243a"/>
          </a:solidFill>
          <a:ln w="15240">
            <a:solidFill>
              <a:srgbClr val="38bdf8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9" name="Text 77"/>
          <p:cNvSpPr/>
          <p:nvPr/>
        </p:nvSpPr>
        <p:spPr>
          <a:xfrm>
            <a:off x="4617720" y="5212080"/>
            <a:ext cx="2971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Prediction &amp; Evaluation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0" name="Text 78"/>
          <p:cNvSpPr/>
          <p:nvPr/>
        </p:nvSpPr>
        <p:spPr>
          <a:xfrm>
            <a:off x="4617720" y="5495400"/>
            <a:ext cx="29714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metrics · comparisons · forecasts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1" name="Shape 79"/>
          <p:cNvSpPr/>
          <p:nvPr/>
        </p:nvSpPr>
        <p:spPr>
          <a:xfrm>
            <a:off x="3337560" y="4599360"/>
            <a:ext cx="1188720" cy="713160"/>
          </a:xfrm>
          <a:prstGeom prst="line">
            <a:avLst/>
          </a:prstGeom>
          <a:ln w="19050">
            <a:solidFill>
              <a:srgbClr val="22d3e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2" name="Shape 80"/>
          <p:cNvSpPr/>
          <p:nvPr/>
        </p:nvSpPr>
        <p:spPr>
          <a:xfrm flipH="1">
            <a:off x="7680960" y="4599360"/>
            <a:ext cx="1170360" cy="713160"/>
          </a:xfrm>
          <a:prstGeom prst="line">
            <a:avLst/>
          </a:prstGeom>
          <a:ln w="19050">
            <a:solidFill>
              <a:srgbClr val="35e6a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3" name="Shape 81"/>
          <p:cNvSpPr/>
          <p:nvPr/>
        </p:nvSpPr>
        <p:spPr>
          <a:xfrm>
            <a:off x="1874520" y="5870520"/>
            <a:ext cx="2377080" cy="529920"/>
          </a:xfrm>
          <a:prstGeom prst="roundRect">
            <a:avLst>
              <a:gd name="adj" fmla="val 13793"/>
            </a:avLst>
          </a:prstGeom>
          <a:solidFill>
            <a:srgbClr val="10243a"/>
          </a:solidFill>
          <a:ln w="15240">
            <a:solidFill>
              <a:srgbClr val="22d3ee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4" name="Text 82"/>
          <p:cNvSpPr/>
          <p:nvPr/>
        </p:nvSpPr>
        <p:spPr>
          <a:xfrm>
            <a:off x="1965960" y="598032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Flask REST API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5" name="Text 83"/>
          <p:cNvSpPr/>
          <p:nvPr/>
        </p:nvSpPr>
        <p:spPr>
          <a:xfrm>
            <a:off x="1965960" y="6263640"/>
            <a:ext cx="2194200" cy="7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JSON responses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6" name="Shape 84"/>
          <p:cNvSpPr/>
          <p:nvPr/>
        </p:nvSpPr>
        <p:spPr>
          <a:xfrm>
            <a:off x="4251960" y="6135480"/>
            <a:ext cx="960120" cy="360"/>
          </a:xfrm>
          <a:prstGeom prst="line">
            <a:avLst/>
          </a:prstGeom>
          <a:ln w="19050">
            <a:solidFill>
              <a:srgbClr val="38bd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7" name="Shape 85"/>
          <p:cNvSpPr/>
          <p:nvPr/>
        </p:nvSpPr>
        <p:spPr>
          <a:xfrm>
            <a:off x="5212080" y="5870520"/>
            <a:ext cx="2925720" cy="529920"/>
          </a:xfrm>
          <a:prstGeom prst="roundRect">
            <a:avLst>
              <a:gd name="adj" fmla="val 13793"/>
            </a:avLst>
          </a:prstGeom>
          <a:solidFill>
            <a:srgbClr val="10243a"/>
          </a:solidFill>
          <a:ln w="15240">
            <a:solidFill>
              <a:srgbClr val="35e6a3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8" name="Text 86"/>
          <p:cNvSpPr/>
          <p:nvPr/>
        </p:nvSpPr>
        <p:spPr>
          <a:xfrm>
            <a:off x="5303520" y="598032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Plotly Web Dashboard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9" name="Text 87"/>
          <p:cNvSpPr/>
          <p:nvPr/>
        </p:nvSpPr>
        <p:spPr>
          <a:xfrm>
            <a:off x="5303520" y="6263640"/>
            <a:ext cx="2742840" cy="7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interactive frontend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0" name="Text 88"/>
          <p:cNvSpPr/>
          <p:nvPr/>
        </p:nvSpPr>
        <p:spPr>
          <a:xfrm>
            <a:off x="685800" y="1353240"/>
            <a:ext cx="205704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19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DATA SOURCES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2" name="Shape 1"/>
          <p:cNvSpPr/>
          <p:nvPr/>
        </p:nvSpPr>
        <p:spPr>
          <a:xfrm>
            <a:off x="5029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3" name="Shape 2"/>
          <p:cNvSpPr/>
          <p:nvPr/>
        </p:nvSpPr>
        <p:spPr>
          <a:xfrm>
            <a:off x="10058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4" name="Shape 3"/>
          <p:cNvSpPr/>
          <p:nvPr/>
        </p:nvSpPr>
        <p:spPr>
          <a:xfrm>
            <a:off x="15087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5" name="Shape 4"/>
          <p:cNvSpPr/>
          <p:nvPr/>
        </p:nvSpPr>
        <p:spPr>
          <a:xfrm>
            <a:off x="20116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6" name="Shape 5"/>
          <p:cNvSpPr/>
          <p:nvPr/>
        </p:nvSpPr>
        <p:spPr>
          <a:xfrm>
            <a:off x="25146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7" name="Shape 6"/>
          <p:cNvSpPr/>
          <p:nvPr/>
        </p:nvSpPr>
        <p:spPr>
          <a:xfrm>
            <a:off x="30175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8" name="Shape 7"/>
          <p:cNvSpPr/>
          <p:nvPr/>
        </p:nvSpPr>
        <p:spPr>
          <a:xfrm>
            <a:off x="35204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9" name="Shape 8"/>
          <p:cNvSpPr/>
          <p:nvPr/>
        </p:nvSpPr>
        <p:spPr>
          <a:xfrm>
            <a:off x="40233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0" name="Shape 9"/>
          <p:cNvSpPr/>
          <p:nvPr/>
        </p:nvSpPr>
        <p:spPr>
          <a:xfrm>
            <a:off x="45262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1" name="Shape 10"/>
          <p:cNvSpPr/>
          <p:nvPr/>
        </p:nvSpPr>
        <p:spPr>
          <a:xfrm>
            <a:off x="50292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2" name="Shape 11"/>
          <p:cNvSpPr/>
          <p:nvPr/>
        </p:nvSpPr>
        <p:spPr>
          <a:xfrm>
            <a:off x="55321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3" name="Shape 12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4" name="Shape 13"/>
          <p:cNvSpPr/>
          <p:nvPr/>
        </p:nvSpPr>
        <p:spPr>
          <a:xfrm>
            <a:off x="65379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5" name="Shape 14"/>
          <p:cNvSpPr/>
          <p:nvPr/>
        </p:nvSpPr>
        <p:spPr>
          <a:xfrm>
            <a:off x="70408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6" name="Shape 15"/>
          <p:cNvSpPr/>
          <p:nvPr/>
        </p:nvSpPr>
        <p:spPr>
          <a:xfrm>
            <a:off x="75438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7" name="Shape 16"/>
          <p:cNvSpPr/>
          <p:nvPr/>
        </p:nvSpPr>
        <p:spPr>
          <a:xfrm>
            <a:off x="80467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8" name="Shape 17"/>
          <p:cNvSpPr/>
          <p:nvPr/>
        </p:nvSpPr>
        <p:spPr>
          <a:xfrm>
            <a:off x="85496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9" name="Shape 18"/>
          <p:cNvSpPr/>
          <p:nvPr/>
        </p:nvSpPr>
        <p:spPr>
          <a:xfrm>
            <a:off x="90525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0" name="Shape 19"/>
          <p:cNvSpPr/>
          <p:nvPr/>
        </p:nvSpPr>
        <p:spPr>
          <a:xfrm>
            <a:off x="95554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1" name="Shape 20"/>
          <p:cNvSpPr/>
          <p:nvPr/>
        </p:nvSpPr>
        <p:spPr>
          <a:xfrm>
            <a:off x="100584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2" name="Shape 21"/>
          <p:cNvSpPr/>
          <p:nvPr/>
        </p:nvSpPr>
        <p:spPr>
          <a:xfrm>
            <a:off x="105613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3" name="Shape 22"/>
          <p:cNvSpPr/>
          <p:nvPr/>
        </p:nvSpPr>
        <p:spPr>
          <a:xfrm>
            <a:off x="110642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4" name="Shape 23"/>
          <p:cNvSpPr/>
          <p:nvPr/>
        </p:nvSpPr>
        <p:spPr>
          <a:xfrm>
            <a:off x="115671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5" name="Shape 24"/>
          <p:cNvSpPr/>
          <p:nvPr/>
        </p:nvSpPr>
        <p:spPr>
          <a:xfrm>
            <a:off x="120700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6" name="Shape 25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7" name="Shape 26"/>
          <p:cNvSpPr/>
          <p:nvPr/>
        </p:nvSpPr>
        <p:spPr>
          <a:xfrm>
            <a:off x="0" y="5029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8" name="Shape 27"/>
          <p:cNvSpPr/>
          <p:nvPr/>
        </p:nvSpPr>
        <p:spPr>
          <a:xfrm>
            <a:off x="0" y="10058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9" name="Shape 28"/>
          <p:cNvSpPr/>
          <p:nvPr/>
        </p:nvSpPr>
        <p:spPr>
          <a:xfrm>
            <a:off x="0" y="15087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0" name="Shape 29"/>
          <p:cNvSpPr/>
          <p:nvPr/>
        </p:nvSpPr>
        <p:spPr>
          <a:xfrm>
            <a:off x="0" y="201168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1" name="Shape 30"/>
          <p:cNvSpPr/>
          <p:nvPr/>
        </p:nvSpPr>
        <p:spPr>
          <a:xfrm>
            <a:off x="0" y="251460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2" name="Shape 31"/>
          <p:cNvSpPr/>
          <p:nvPr/>
        </p:nvSpPr>
        <p:spPr>
          <a:xfrm>
            <a:off x="0" y="30175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3" name="Shape 32"/>
          <p:cNvSpPr/>
          <p:nvPr/>
        </p:nvSpPr>
        <p:spPr>
          <a:xfrm>
            <a:off x="0" y="35204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4" name="Shape 33"/>
          <p:cNvSpPr/>
          <p:nvPr/>
        </p:nvSpPr>
        <p:spPr>
          <a:xfrm>
            <a:off x="0" y="40233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5" name="Shape 34"/>
          <p:cNvSpPr/>
          <p:nvPr/>
        </p:nvSpPr>
        <p:spPr>
          <a:xfrm>
            <a:off x="0" y="452628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6" name="Shape 35"/>
          <p:cNvSpPr/>
          <p:nvPr/>
        </p:nvSpPr>
        <p:spPr>
          <a:xfrm>
            <a:off x="0" y="502920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7" name="Shape 36"/>
          <p:cNvSpPr/>
          <p:nvPr/>
        </p:nvSpPr>
        <p:spPr>
          <a:xfrm>
            <a:off x="0" y="55321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8" name="Shape 37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9" name="Shape 38"/>
          <p:cNvSpPr/>
          <p:nvPr/>
        </p:nvSpPr>
        <p:spPr>
          <a:xfrm>
            <a:off x="0" y="65379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0" name="Text 39"/>
          <p:cNvSpPr/>
          <p:nvPr/>
        </p:nvSpPr>
        <p:spPr>
          <a:xfrm>
            <a:off x="502920" y="292680"/>
            <a:ext cx="502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39" strike="noStrike" u="none">
                <a:solidFill>
                  <a:srgbClr val="35e6a3"/>
                </a:solidFill>
                <a:effectLst/>
                <a:uFillTx/>
                <a:latin typeface="Aptos"/>
                <a:ea typeface="Aptos"/>
              </a:rPr>
              <a:t>12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1" name="Text 40"/>
          <p:cNvSpPr/>
          <p:nvPr/>
        </p:nvSpPr>
        <p:spPr>
          <a:xfrm>
            <a:off x="1078920" y="29268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59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MEASURE ERROR AND DIRECTION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2" name="Text 41"/>
          <p:cNvSpPr/>
          <p:nvPr/>
        </p:nvSpPr>
        <p:spPr>
          <a:xfrm>
            <a:off x="502920" y="65844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Model Evaluation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3" name="Shape 42"/>
          <p:cNvSpPr/>
          <p:nvPr/>
        </p:nvSpPr>
        <p:spPr>
          <a:xfrm>
            <a:off x="502920" y="1298160"/>
            <a:ext cx="11155680" cy="360"/>
          </a:xfrm>
          <a:prstGeom prst="line">
            <a:avLst/>
          </a:prstGeom>
          <a:ln w="12700">
            <a:solidFill>
              <a:srgbClr val="1b3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4" name="Shape 43"/>
          <p:cNvSpPr/>
          <p:nvPr/>
        </p:nvSpPr>
        <p:spPr>
          <a:xfrm>
            <a:off x="502920" y="1298160"/>
            <a:ext cx="1234440" cy="360"/>
          </a:xfrm>
          <a:prstGeom prst="line">
            <a:avLst/>
          </a:prstGeom>
          <a:ln w="381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5" name="Text 44"/>
          <p:cNvSpPr/>
          <p:nvPr/>
        </p:nvSpPr>
        <p:spPr>
          <a:xfrm>
            <a:off x="7955280" y="6519600"/>
            <a:ext cx="3702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99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AI STOCK PRICE PREDICTOR  /  LSTM + GRU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6" name="Shape 45"/>
          <p:cNvSpPr/>
          <p:nvPr/>
        </p:nvSpPr>
        <p:spPr>
          <a:xfrm>
            <a:off x="567000" y="1609200"/>
            <a:ext cx="3428640" cy="105120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7" name="Shape 46"/>
          <p:cNvSpPr/>
          <p:nvPr/>
        </p:nvSpPr>
        <p:spPr>
          <a:xfrm>
            <a:off x="567000" y="1609200"/>
            <a:ext cx="50040" cy="1051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Text 47"/>
          <p:cNvSpPr/>
          <p:nvPr/>
        </p:nvSpPr>
        <p:spPr>
          <a:xfrm>
            <a:off x="749880" y="1755720"/>
            <a:ext cx="776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MSE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9" name="Text 48"/>
          <p:cNvSpPr/>
          <p:nvPr/>
        </p:nvSpPr>
        <p:spPr>
          <a:xfrm>
            <a:off x="1527120" y="176472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Mean Squared Error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0" name="Text 49"/>
          <p:cNvSpPr/>
          <p:nvPr/>
        </p:nvSpPr>
        <p:spPr>
          <a:xfrm>
            <a:off x="749880" y="217620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Penalizes larger errors more strongly.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1" name="Shape 50"/>
          <p:cNvSpPr/>
          <p:nvPr/>
        </p:nvSpPr>
        <p:spPr>
          <a:xfrm>
            <a:off x="4370760" y="1609200"/>
            <a:ext cx="3428640" cy="105120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2" name="Shape 51"/>
          <p:cNvSpPr/>
          <p:nvPr/>
        </p:nvSpPr>
        <p:spPr>
          <a:xfrm>
            <a:off x="4370760" y="1609200"/>
            <a:ext cx="50040" cy="1051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Text 52"/>
          <p:cNvSpPr/>
          <p:nvPr/>
        </p:nvSpPr>
        <p:spPr>
          <a:xfrm>
            <a:off x="4553640" y="1755720"/>
            <a:ext cx="776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38bdf8"/>
                </a:solidFill>
                <a:effectLst/>
                <a:uFillTx/>
                <a:latin typeface="Aptos"/>
              </a:rPr>
              <a:t>RMSE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4" name="Text 53"/>
          <p:cNvSpPr/>
          <p:nvPr/>
        </p:nvSpPr>
        <p:spPr>
          <a:xfrm>
            <a:off x="5330880" y="176472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Root Mean Squared Error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5" name="Text 54"/>
          <p:cNvSpPr/>
          <p:nvPr/>
        </p:nvSpPr>
        <p:spPr>
          <a:xfrm>
            <a:off x="4553640" y="217620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Returns error to the price scale.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6" name="Shape 55"/>
          <p:cNvSpPr/>
          <p:nvPr/>
        </p:nvSpPr>
        <p:spPr>
          <a:xfrm>
            <a:off x="8174880" y="1609200"/>
            <a:ext cx="3428640" cy="105120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7" name="Shape 56"/>
          <p:cNvSpPr/>
          <p:nvPr/>
        </p:nvSpPr>
        <p:spPr>
          <a:xfrm>
            <a:off x="8174880" y="1609200"/>
            <a:ext cx="50040" cy="1051200"/>
          </a:xfrm>
          <a:prstGeom prst="rect">
            <a:avLst/>
          </a:prstGeom>
          <a:solidFill>
            <a:srgbClr val="35e6a3"/>
          </a:solidFill>
          <a:ln w="12700">
            <a:solidFill>
              <a:srgbClr val="35e6a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Text 57"/>
          <p:cNvSpPr/>
          <p:nvPr/>
        </p:nvSpPr>
        <p:spPr>
          <a:xfrm>
            <a:off x="8357760" y="1755720"/>
            <a:ext cx="776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35e6a3"/>
                </a:solidFill>
                <a:effectLst/>
                <a:uFillTx/>
                <a:latin typeface="Aptos"/>
              </a:rPr>
              <a:t>MAE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9" name="Text 58"/>
          <p:cNvSpPr/>
          <p:nvPr/>
        </p:nvSpPr>
        <p:spPr>
          <a:xfrm>
            <a:off x="9135000" y="176472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Mean Absolute Error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0" name="Text 59"/>
          <p:cNvSpPr/>
          <p:nvPr/>
        </p:nvSpPr>
        <p:spPr>
          <a:xfrm>
            <a:off x="8357760" y="217620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Average absolute prediction deviation.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1" name="Shape 60"/>
          <p:cNvSpPr/>
          <p:nvPr/>
        </p:nvSpPr>
        <p:spPr>
          <a:xfrm>
            <a:off x="567000" y="2880360"/>
            <a:ext cx="5257440" cy="105120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2" name="Shape 61"/>
          <p:cNvSpPr/>
          <p:nvPr/>
        </p:nvSpPr>
        <p:spPr>
          <a:xfrm>
            <a:off x="567000" y="2880360"/>
            <a:ext cx="50040" cy="1051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Text 62"/>
          <p:cNvSpPr/>
          <p:nvPr/>
        </p:nvSpPr>
        <p:spPr>
          <a:xfrm>
            <a:off x="749880" y="3026520"/>
            <a:ext cx="776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MAPE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4" name="Text 63"/>
          <p:cNvSpPr/>
          <p:nvPr/>
        </p:nvSpPr>
        <p:spPr>
          <a:xfrm>
            <a:off x="1527120" y="3035880"/>
            <a:ext cx="4114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Mean Absolute Percentage Error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5" name="Text 64"/>
          <p:cNvSpPr/>
          <p:nvPr/>
        </p:nvSpPr>
        <p:spPr>
          <a:xfrm>
            <a:off x="749880" y="3447360"/>
            <a:ext cx="4891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Expresses relative error as a percentage.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6" name="Shape 65"/>
          <p:cNvSpPr/>
          <p:nvPr/>
        </p:nvSpPr>
        <p:spPr>
          <a:xfrm>
            <a:off x="6355080" y="2880360"/>
            <a:ext cx="5248440" cy="105120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7" name="Shape 66"/>
          <p:cNvSpPr/>
          <p:nvPr/>
        </p:nvSpPr>
        <p:spPr>
          <a:xfrm>
            <a:off x="6355080" y="2880360"/>
            <a:ext cx="50040" cy="1051200"/>
          </a:xfrm>
          <a:prstGeom prst="rect">
            <a:avLst/>
          </a:prstGeom>
          <a:solidFill>
            <a:srgbClr val="35e6a3"/>
          </a:solidFill>
          <a:ln w="12700">
            <a:solidFill>
              <a:srgbClr val="35e6a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Text 67"/>
          <p:cNvSpPr/>
          <p:nvPr/>
        </p:nvSpPr>
        <p:spPr>
          <a:xfrm>
            <a:off x="6537960" y="3026520"/>
            <a:ext cx="776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35e6a3"/>
                </a:solidFill>
                <a:effectLst/>
                <a:uFillTx/>
                <a:latin typeface="Aptos"/>
              </a:rPr>
              <a:t>DTA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9" name="Text 68"/>
          <p:cNvSpPr/>
          <p:nvPr/>
        </p:nvSpPr>
        <p:spPr>
          <a:xfrm>
            <a:off x="7315200" y="3035880"/>
            <a:ext cx="4105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Directional Trend Accuracy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0" name="Text 69"/>
          <p:cNvSpPr/>
          <p:nvPr/>
        </p:nvSpPr>
        <p:spPr>
          <a:xfrm>
            <a:off x="6537960" y="3447360"/>
            <a:ext cx="488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Checks whether rise/fall direction is correct.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1" name="Shape 70"/>
          <p:cNvSpPr/>
          <p:nvPr/>
        </p:nvSpPr>
        <p:spPr>
          <a:xfrm>
            <a:off x="567000" y="4187880"/>
            <a:ext cx="7314840" cy="123408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2" name="Shape 71"/>
          <p:cNvSpPr/>
          <p:nvPr/>
        </p:nvSpPr>
        <p:spPr>
          <a:xfrm>
            <a:off x="567000" y="4187880"/>
            <a:ext cx="50040" cy="1234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Text 72"/>
          <p:cNvSpPr/>
          <p:nvPr/>
        </p:nvSpPr>
        <p:spPr>
          <a:xfrm>
            <a:off x="822960" y="4398120"/>
            <a:ext cx="1096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11" strike="noStrike" u="none">
                <a:solidFill>
                  <a:srgbClr val="38bdf8"/>
                </a:solidFill>
                <a:effectLst/>
                <a:uFillTx/>
                <a:latin typeface="Aptos"/>
              </a:rPr>
              <a:t>FORMULAS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4" name="Text 73"/>
          <p:cNvSpPr/>
          <p:nvPr/>
        </p:nvSpPr>
        <p:spPr>
          <a:xfrm>
            <a:off x="822960" y="4827960"/>
            <a:ext cx="6766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f6faff"/>
                </a:solidFill>
                <a:effectLst/>
                <a:uFillTx/>
                <a:latin typeface="Cambria Math"/>
                <a:ea typeface="Cambria Math"/>
              </a:rPr>
              <a:t>MSE = (1/n) Σ(yᵢ − ŷᵢ)²     RMSE = √MSE     MAE = (1/n) Σ|yᵢ − ŷᵢ|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5" name="Shape 74"/>
          <p:cNvSpPr/>
          <p:nvPr/>
        </p:nvSpPr>
        <p:spPr>
          <a:xfrm>
            <a:off x="8247960" y="4187880"/>
            <a:ext cx="3355560" cy="123408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6" name="Shape 75"/>
          <p:cNvSpPr/>
          <p:nvPr/>
        </p:nvSpPr>
        <p:spPr>
          <a:xfrm>
            <a:off x="8247960" y="4187880"/>
            <a:ext cx="50040" cy="1234080"/>
          </a:xfrm>
          <a:prstGeom prst="rect">
            <a:avLst/>
          </a:prstGeom>
          <a:solidFill>
            <a:srgbClr val="35e6a3"/>
          </a:solidFill>
          <a:ln w="12700">
            <a:solidFill>
              <a:srgbClr val="35e6a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Text 76"/>
          <p:cNvSpPr/>
          <p:nvPr/>
        </p:nvSpPr>
        <p:spPr>
          <a:xfrm>
            <a:off x="8476560" y="4398120"/>
            <a:ext cx="2880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79" strike="noStrike" u="none">
                <a:solidFill>
                  <a:srgbClr val="35e6a3"/>
                </a:solidFill>
                <a:effectLst/>
                <a:uFillTx/>
                <a:latin typeface="Aptos"/>
              </a:rPr>
              <a:t>RESULT PLACEHOLDERS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8" name="Text 77"/>
          <p:cNvSpPr/>
          <p:nvPr/>
        </p:nvSpPr>
        <p:spPr>
          <a:xfrm>
            <a:off x="8549640" y="472752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LSTM RMSE: [Insert actual result]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GRU RMSE:  [Insert actual result]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9" name="Text 78"/>
          <p:cNvSpPr/>
          <p:nvPr/>
        </p:nvSpPr>
        <p:spPr>
          <a:xfrm>
            <a:off x="2011680" y="5806440"/>
            <a:ext cx="8137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Use inverse-scaled predictions for price-based metrics.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1" name="Shape 1"/>
          <p:cNvSpPr/>
          <p:nvPr/>
        </p:nvSpPr>
        <p:spPr>
          <a:xfrm>
            <a:off x="5029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2" name="Shape 2"/>
          <p:cNvSpPr/>
          <p:nvPr/>
        </p:nvSpPr>
        <p:spPr>
          <a:xfrm>
            <a:off x="10058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3" name="Shape 3"/>
          <p:cNvSpPr/>
          <p:nvPr/>
        </p:nvSpPr>
        <p:spPr>
          <a:xfrm>
            <a:off x="15087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4" name="Shape 4"/>
          <p:cNvSpPr/>
          <p:nvPr/>
        </p:nvSpPr>
        <p:spPr>
          <a:xfrm>
            <a:off x="20116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5" name="Shape 5"/>
          <p:cNvSpPr/>
          <p:nvPr/>
        </p:nvSpPr>
        <p:spPr>
          <a:xfrm>
            <a:off x="25146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6" name="Shape 6"/>
          <p:cNvSpPr/>
          <p:nvPr/>
        </p:nvSpPr>
        <p:spPr>
          <a:xfrm>
            <a:off x="30175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7" name="Shape 7"/>
          <p:cNvSpPr/>
          <p:nvPr/>
        </p:nvSpPr>
        <p:spPr>
          <a:xfrm>
            <a:off x="35204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8" name="Shape 8"/>
          <p:cNvSpPr/>
          <p:nvPr/>
        </p:nvSpPr>
        <p:spPr>
          <a:xfrm>
            <a:off x="40233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9" name="Shape 9"/>
          <p:cNvSpPr/>
          <p:nvPr/>
        </p:nvSpPr>
        <p:spPr>
          <a:xfrm>
            <a:off x="45262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0" name="Shape 10"/>
          <p:cNvSpPr/>
          <p:nvPr/>
        </p:nvSpPr>
        <p:spPr>
          <a:xfrm>
            <a:off x="50292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1" name="Shape 11"/>
          <p:cNvSpPr/>
          <p:nvPr/>
        </p:nvSpPr>
        <p:spPr>
          <a:xfrm>
            <a:off x="55321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2" name="Shape 12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3" name="Shape 13"/>
          <p:cNvSpPr/>
          <p:nvPr/>
        </p:nvSpPr>
        <p:spPr>
          <a:xfrm>
            <a:off x="65379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4" name="Shape 14"/>
          <p:cNvSpPr/>
          <p:nvPr/>
        </p:nvSpPr>
        <p:spPr>
          <a:xfrm>
            <a:off x="70408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5" name="Shape 15"/>
          <p:cNvSpPr/>
          <p:nvPr/>
        </p:nvSpPr>
        <p:spPr>
          <a:xfrm>
            <a:off x="75438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6" name="Shape 16"/>
          <p:cNvSpPr/>
          <p:nvPr/>
        </p:nvSpPr>
        <p:spPr>
          <a:xfrm>
            <a:off x="80467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7" name="Shape 17"/>
          <p:cNvSpPr/>
          <p:nvPr/>
        </p:nvSpPr>
        <p:spPr>
          <a:xfrm>
            <a:off x="85496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8" name="Shape 18"/>
          <p:cNvSpPr/>
          <p:nvPr/>
        </p:nvSpPr>
        <p:spPr>
          <a:xfrm>
            <a:off x="90525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9" name="Shape 19"/>
          <p:cNvSpPr/>
          <p:nvPr/>
        </p:nvSpPr>
        <p:spPr>
          <a:xfrm>
            <a:off x="95554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0" name="Shape 20"/>
          <p:cNvSpPr/>
          <p:nvPr/>
        </p:nvSpPr>
        <p:spPr>
          <a:xfrm>
            <a:off x="100584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1" name="Shape 21"/>
          <p:cNvSpPr/>
          <p:nvPr/>
        </p:nvSpPr>
        <p:spPr>
          <a:xfrm>
            <a:off x="105613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2" name="Shape 22"/>
          <p:cNvSpPr/>
          <p:nvPr/>
        </p:nvSpPr>
        <p:spPr>
          <a:xfrm>
            <a:off x="110642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3" name="Shape 23"/>
          <p:cNvSpPr/>
          <p:nvPr/>
        </p:nvSpPr>
        <p:spPr>
          <a:xfrm>
            <a:off x="115671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4" name="Shape 24"/>
          <p:cNvSpPr/>
          <p:nvPr/>
        </p:nvSpPr>
        <p:spPr>
          <a:xfrm>
            <a:off x="120700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5" name="Shape 25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6" name="Shape 26"/>
          <p:cNvSpPr/>
          <p:nvPr/>
        </p:nvSpPr>
        <p:spPr>
          <a:xfrm>
            <a:off x="0" y="5029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7" name="Shape 27"/>
          <p:cNvSpPr/>
          <p:nvPr/>
        </p:nvSpPr>
        <p:spPr>
          <a:xfrm>
            <a:off x="0" y="10058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8" name="Shape 28"/>
          <p:cNvSpPr/>
          <p:nvPr/>
        </p:nvSpPr>
        <p:spPr>
          <a:xfrm>
            <a:off x="0" y="15087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9" name="Shape 29"/>
          <p:cNvSpPr/>
          <p:nvPr/>
        </p:nvSpPr>
        <p:spPr>
          <a:xfrm>
            <a:off x="0" y="201168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0" name="Shape 30"/>
          <p:cNvSpPr/>
          <p:nvPr/>
        </p:nvSpPr>
        <p:spPr>
          <a:xfrm>
            <a:off x="0" y="251460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1" name="Shape 31"/>
          <p:cNvSpPr/>
          <p:nvPr/>
        </p:nvSpPr>
        <p:spPr>
          <a:xfrm>
            <a:off x="0" y="30175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2" name="Shape 32"/>
          <p:cNvSpPr/>
          <p:nvPr/>
        </p:nvSpPr>
        <p:spPr>
          <a:xfrm>
            <a:off x="0" y="35204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3" name="Shape 33"/>
          <p:cNvSpPr/>
          <p:nvPr/>
        </p:nvSpPr>
        <p:spPr>
          <a:xfrm>
            <a:off x="0" y="40233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4" name="Shape 34"/>
          <p:cNvSpPr/>
          <p:nvPr/>
        </p:nvSpPr>
        <p:spPr>
          <a:xfrm>
            <a:off x="0" y="452628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5" name="Shape 35"/>
          <p:cNvSpPr/>
          <p:nvPr/>
        </p:nvSpPr>
        <p:spPr>
          <a:xfrm>
            <a:off x="0" y="502920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6" name="Shape 36"/>
          <p:cNvSpPr/>
          <p:nvPr/>
        </p:nvSpPr>
        <p:spPr>
          <a:xfrm>
            <a:off x="0" y="55321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7" name="Shape 37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8" name="Shape 38"/>
          <p:cNvSpPr/>
          <p:nvPr/>
        </p:nvSpPr>
        <p:spPr>
          <a:xfrm>
            <a:off x="0" y="65379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9" name="Text 39"/>
          <p:cNvSpPr/>
          <p:nvPr/>
        </p:nvSpPr>
        <p:spPr>
          <a:xfrm>
            <a:off x="502920" y="292680"/>
            <a:ext cx="502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39" strike="noStrike" u="none">
                <a:solidFill>
                  <a:srgbClr val="35e6a3"/>
                </a:solidFill>
                <a:effectLst/>
                <a:uFillTx/>
                <a:latin typeface="Aptos"/>
                <a:ea typeface="Aptos"/>
              </a:rPr>
              <a:t>13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0" name="Text 40"/>
          <p:cNvSpPr/>
          <p:nvPr/>
        </p:nvSpPr>
        <p:spPr>
          <a:xfrm>
            <a:off x="1078920" y="29268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59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PROJECT OUTPUT PLACEHOLDERS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1" name="Text 41"/>
          <p:cNvSpPr/>
          <p:nvPr/>
        </p:nvSpPr>
        <p:spPr>
          <a:xfrm>
            <a:off x="502920" y="65844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Results &amp; Visualization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2" name="Shape 42"/>
          <p:cNvSpPr/>
          <p:nvPr/>
        </p:nvSpPr>
        <p:spPr>
          <a:xfrm>
            <a:off x="502920" y="1298160"/>
            <a:ext cx="11155680" cy="360"/>
          </a:xfrm>
          <a:prstGeom prst="line">
            <a:avLst/>
          </a:prstGeom>
          <a:ln w="12700">
            <a:solidFill>
              <a:srgbClr val="1b3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3" name="Shape 43"/>
          <p:cNvSpPr/>
          <p:nvPr/>
        </p:nvSpPr>
        <p:spPr>
          <a:xfrm>
            <a:off x="502920" y="1298160"/>
            <a:ext cx="1234440" cy="360"/>
          </a:xfrm>
          <a:prstGeom prst="line">
            <a:avLst/>
          </a:prstGeom>
          <a:ln w="381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4" name="Text 44"/>
          <p:cNvSpPr/>
          <p:nvPr/>
        </p:nvSpPr>
        <p:spPr>
          <a:xfrm>
            <a:off x="7955280" y="6519600"/>
            <a:ext cx="3702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99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AI STOCK PRICE PREDICTOR  /  LSTM + GRU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5" name="Shape 45"/>
          <p:cNvSpPr/>
          <p:nvPr/>
        </p:nvSpPr>
        <p:spPr>
          <a:xfrm>
            <a:off x="567000" y="1609200"/>
            <a:ext cx="5376240" cy="2057040"/>
          </a:xfrm>
          <a:prstGeom prst="rect">
            <a:avLst/>
          </a:prstGeom>
          <a:solidFill>
            <a:srgbClr val="0c1d30"/>
          </a:solidFill>
          <a:ln w="10160">
            <a:solidFill>
              <a:srgbClr val="1b3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6" name="Text 46"/>
          <p:cNvSpPr/>
          <p:nvPr/>
        </p:nvSpPr>
        <p:spPr>
          <a:xfrm>
            <a:off x="749880" y="1746360"/>
            <a:ext cx="5010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Training loss curve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7" name="Shape 47"/>
          <p:cNvSpPr/>
          <p:nvPr/>
        </p:nvSpPr>
        <p:spPr>
          <a:xfrm>
            <a:off x="914400" y="3319200"/>
            <a:ext cx="4718160" cy="360"/>
          </a:xfrm>
          <a:prstGeom prst="line">
            <a:avLst/>
          </a:prstGeom>
          <a:ln w="10160">
            <a:solidFill>
              <a:srgbClr val="8ca5b8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8" name="Shape 48"/>
          <p:cNvSpPr/>
          <p:nvPr/>
        </p:nvSpPr>
        <p:spPr>
          <a:xfrm>
            <a:off x="914400" y="2039040"/>
            <a:ext cx="360" cy="1280160"/>
          </a:xfrm>
          <a:prstGeom prst="line">
            <a:avLst/>
          </a:prstGeom>
          <a:ln w="10160">
            <a:solidFill>
              <a:srgbClr val="8ca5b8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9" name="Shape 49"/>
          <p:cNvSpPr/>
          <p:nvPr/>
        </p:nvSpPr>
        <p:spPr>
          <a:xfrm flipV="1">
            <a:off x="914400" y="2871000"/>
            <a:ext cx="565920" cy="294480"/>
          </a:xfrm>
          <a:prstGeom prst="line">
            <a:avLst/>
          </a:prstGeom>
          <a:ln w="254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0" name="Shape 50"/>
          <p:cNvSpPr/>
          <p:nvPr/>
        </p:nvSpPr>
        <p:spPr>
          <a:xfrm flipV="1">
            <a:off x="1480320" y="2679120"/>
            <a:ext cx="566280" cy="191880"/>
          </a:xfrm>
          <a:prstGeom prst="line">
            <a:avLst/>
          </a:prstGeom>
          <a:ln w="254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1" name="Shape 51"/>
          <p:cNvSpPr/>
          <p:nvPr/>
        </p:nvSpPr>
        <p:spPr>
          <a:xfrm flipV="1">
            <a:off x="2046600" y="2499840"/>
            <a:ext cx="660600" cy="179280"/>
          </a:xfrm>
          <a:prstGeom prst="line">
            <a:avLst/>
          </a:prstGeom>
          <a:ln w="254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2" name="Shape 52"/>
          <p:cNvSpPr/>
          <p:nvPr/>
        </p:nvSpPr>
        <p:spPr>
          <a:xfrm flipV="1">
            <a:off x="2707200" y="2397240"/>
            <a:ext cx="660600" cy="102600"/>
          </a:xfrm>
          <a:prstGeom prst="line">
            <a:avLst/>
          </a:prstGeom>
          <a:ln w="254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3" name="Shape 53"/>
          <p:cNvSpPr/>
          <p:nvPr/>
        </p:nvSpPr>
        <p:spPr>
          <a:xfrm flipV="1">
            <a:off x="3367800" y="2307600"/>
            <a:ext cx="754920" cy="89640"/>
          </a:xfrm>
          <a:prstGeom prst="line">
            <a:avLst/>
          </a:prstGeom>
          <a:ln w="254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4640" bIns="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4" name="Shape 54"/>
          <p:cNvSpPr/>
          <p:nvPr/>
        </p:nvSpPr>
        <p:spPr>
          <a:xfrm flipV="1">
            <a:off x="4122720" y="2256480"/>
            <a:ext cx="754920" cy="51120"/>
          </a:xfrm>
          <a:prstGeom prst="line">
            <a:avLst/>
          </a:prstGeom>
          <a:ln w="254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120" bIns="612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5" name="Shape 55"/>
          <p:cNvSpPr/>
          <p:nvPr/>
        </p:nvSpPr>
        <p:spPr>
          <a:xfrm flipV="1">
            <a:off x="4877640" y="2218320"/>
            <a:ext cx="754920" cy="38160"/>
          </a:xfrm>
          <a:prstGeom prst="line">
            <a:avLst/>
          </a:prstGeom>
          <a:ln w="254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6" name="Text 56"/>
          <p:cNvSpPr/>
          <p:nvPr/>
        </p:nvSpPr>
        <p:spPr>
          <a:xfrm>
            <a:off x="887040" y="3429000"/>
            <a:ext cx="473616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79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PLACEHOLDER · INSERT PROJECT OUTPUT</a:t>
            </a:r>
            <a:endParaRPr b="0" lang="en-US" sz="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7" name="Shape 57"/>
          <p:cNvSpPr/>
          <p:nvPr/>
        </p:nvSpPr>
        <p:spPr>
          <a:xfrm>
            <a:off x="6236280" y="1609200"/>
            <a:ext cx="5376240" cy="2057040"/>
          </a:xfrm>
          <a:prstGeom prst="rect">
            <a:avLst/>
          </a:prstGeom>
          <a:solidFill>
            <a:srgbClr val="0c1d30"/>
          </a:solidFill>
          <a:ln w="10160">
            <a:solidFill>
              <a:srgbClr val="1b3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8" name="Text 58"/>
          <p:cNvSpPr/>
          <p:nvPr/>
        </p:nvSpPr>
        <p:spPr>
          <a:xfrm>
            <a:off x="6419160" y="1746360"/>
            <a:ext cx="5010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Actual vs predicted stock price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9" name="Shape 59"/>
          <p:cNvSpPr/>
          <p:nvPr/>
        </p:nvSpPr>
        <p:spPr>
          <a:xfrm>
            <a:off x="6583680" y="3319200"/>
            <a:ext cx="4718160" cy="360"/>
          </a:xfrm>
          <a:prstGeom prst="line">
            <a:avLst/>
          </a:prstGeom>
          <a:ln w="10160">
            <a:solidFill>
              <a:srgbClr val="8ca5b8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0" name="Shape 60"/>
          <p:cNvSpPr/>
          <p:nvPr/>
        </p:nvSpPr>
        <p:spPr>
          <a:xfrm>
            <a:off x="6583680" y="2039040"/>
            <a:ext cx="360" cy="1280160"/>
          </a:xfrm>
          <a:prstGeom prst="line">
            <a:avLst/>
          </a:prstGeom>
          <a:ln w="10160">
            <a:solidFill>
              <a:srgbClr val="8ca5b8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1" name="Shape 61"/>
          <p:cNvSpPr/>
          <p:nvPr/>
        </p:nvSpPr>
        <p:spPr>
          <a:xfrm>
            <a:off x="6583680" y="2397240"/>
            <a:ext cx="613080" cy="256320"/>
          </a:xfrm>
          <a:prstGeom prst="line">
            <a:avLst/>
          </a:prstGeom>
          <a:ln w="25400">
            <a:solidFill>
              <a:srgbClr val="35e6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2" name="Shape 62"/>
          <p:cNvSpPr/>
          <p:nvPr/>
        </p:nvSpPr>
        <p:spPr>
          <a:xfrm flipV="1">
            <a:off x="7196760" y="2576520"/>
            <a:ext cx="566280" cy="77040"/>
          </a:xfrm>
          <a:prstGeom prst="line">
            <a:avLst/>
          </a:prstGeom>
          <a:ln w="25400">
            <a:solidFill>
              <a:srgbClr val="35e6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040" bIns="320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3" name="Shape 63"/>
          <p:cNvSpPr/>
          <p:nvPr/>
        </p:nvSpPr>
        <p:spPr>
          <a:xfrm>
            <a:off x="7763040" y="2576520"/>
            <a:ext cx="613440" cy="358560"/>
          </a:xfrm>
          <a:prstGeom prst="line">
            <a:avLst/>
          </a:prstGeom>
          <a:ln w="25400">
            <a:solidFill>
              <a:srgbClr val="35e6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4" name="Shape 64"/>
          <p:cNvSpPr/>
          <p:nvPr/>
        </p:nvSpPr>
        <p:spPr>
          <a:xfrm flipV="1">
            <a:off x="8376480" y="2755800"/>
            <a:ext cx="660600" cy="179280"/>
          </a:xfrm>
          <a:prstGeom prst="line">
            <a:avLst/>
          </a:prstGeom>
          <a:ln w="25400">
            <a:solidFill>
              <a:srgbClr val="35e6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5" name="Shape 65"/>
          <p:cNvSpPr/>
          <p:nvPr/>
        </p:nvSpPr>
        <p:spPr>
          <a:xfrm>
            <a:off x="9037080" y="2755800"/>
            <a:ext cx="660600" cy="333000"/>
          </a:xfrm>
          <a:prstGeom prst="line">
            <a:avLst/>
          </a:prstGeom>
          <a:ln w="25400">
            <a:solidFill>
              <a:srgbClr val="35e6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6" name="Shape 66"/>
          <p:cNvSpPr/>
          <p:nvPr/>
        </p:nvSpPr>
        <p:spPr>
          <a:xfrm flipV="1">
            <a:off x="9697680" y="2960640"/>
            <a:ext cx="660600" cy="128160"/>
          </a:xfrm>
          <a:prstGeom prst="line">
            <a:avLst/>
          </a:prstGeom>
          <a:ln w="25400">
            <a:solidFill>
              <a:srgbClr val="35e6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7" name="Shape 67"/>
          <p:cNvSpPr/>
          <p:nvPr/>
        </p:nvSpPr>
        <p:spPr>
          <a:xfrm>
            <a:off x="10358280" y="2960640"/>
            <a:ext cx="943560" cy="255960"/>
          </a:xfrm>
          <a:prstGeom prst="line">
            <a:avLst/>
          </a:prstGeom>
          <a:ln w="25400">
            <a:solidFill>
              <a:srgbClr val="35e6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8" name="Text 68"/>
          <p:cNvSpPr/>
          <p:nvPr/>
        </p:nvSpPr>
        <p:spPr>
          <a:xfrm>
            <a:off x="6556320" y="3429000"/>
            <a:ext cx="473616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79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PLACEHOLDER · INSERT PROJECT OUTPUT</a:t>
            </a:r>
            <a:endParaRPr b="0" lang="en-US" sz="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9" name="Shape 69"/>
          <p:cNvSpPr/>
          <p:nvPr/>
        </p:nvSpPr>
        <p:spPr>
          <a:xfrm>
            <a:off x="567000" y="3913560"/>
            <a:ext cx="5376240" cy="2057040"/>
          </a:xfrm>
          <a:prstGeom prst="rect">
            <a:avLst/>
          </a:prstGeom>
          <a:solidFill>
            <a:srgbClr val="0c1d30"/>
          </a:solidFill>
          <a:ln w="10160">
            <a:solidFill>
              <a:srgbClr val="1b3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0" name="Text 70"/>
          <p:cNvSpPr/>
          <p:nvPr/>
        </p:nvSpPr>
        <p:spPr>
          <a:xfrm>
            <a:off x="749880" y="4050720"/>
            <a:ext cx="5010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LSTM vs GRU metric comparison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1" name="Shape 71"/>
          <p:cNvSpPr/>
          <p:nvPr/>
        </p:nvSpPr>
        <p:spPr>
          <a:xfrm>
            <a:off x="914400" y="5623560"/>
            <a:ext cx="4718160" cy="360"/>
          </a:xfrm>
          <a:prstGeom prst="line">
            <a:avLst/>
          </a:prstGeom>
          <a:ln w="10160">
            <a:solidFill>
              <a:srgbClr val="8ca5b8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2" name="Shape 72"/>
          <p:cNvSpPr/>
          <p:nvPr/>
        </p:nvSpPr>
        <p:spPr>
          <a:xfrm>
            <a:off x="914400" y="4343400"/>
            <a:ext cx="360" cy="1280160"/>
          </a:xfrm>
          <a:prstGeom prst="line">
            <a:avLst/>
          </a:prstGeom>
          <a:ln w="10160">
            <a:solidFill>
              <a:srgbClr val="8ca5b8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3" name="Shape 73"/>
          <p:cNvSpPr/>
          <p:nvPr/>
        </p:nvSpPr>
        <p:spPr>
          <a:xfrm>
            <a:off x="914400" y="4701600"/>
            <a:ext cx="613080" cy="255960"/>
          </a:xfrm>
          <a:prstGeom prst="line">
            <a:avLst/>
          </a:prstGeom>
          <a:ln w="254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4" name="Shape 74"/>
          <p:cNvSpPr/>
          <p:nvPr/>
        </p:nvSpPr>
        <p:spPr>
          <a:xfrm flipV="1">
            <a:off x="1527480" y="4880880"/>
            <a:ext cx="566280" cy="76680"/>
          </a:xfrm>
          <a:prstGeom prst="line">
            <a:avLst/>
          </a:prstGeom>
          <a:ln w="254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1680" bIns="3168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5" name="Shape 75"/>
          <p:cNvSpPr/>
          <p:nvPr/>
        </p:nvSpPr>
        <p:spPr>
          <a:xfrm>
            <a:off x="2093760" y="4880880"/>
            <a:ext cx="613440" cy="358560"/>
          </a:xfrm>
          <a:prstGeom prst="line">
            <a:avLst/>
          </a:prstGeom>
          <a:ln w="254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6" name="Shape 76"/>
          <p:cNvSpPr/>
          <p:nvPr/>
        </p:nvSpPr>
        <p:spPr>
          <a:xfrm flipV="1">
            <a:off x="2707200" y="5060160"/>
            <a:ext cx="660600" cy="179280"/>
          </a:xfrm>
          <a:prstGeom prst="line">
            <a:avLst/>
          </a:prstGeom>
          <a:ln w="254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7" name="Shape 77"/>
          <p:cNvSpPr/>
          <p:nvPr/>
        </p:nvSpPr>
        <p:spPr>
          <a:xfrm>
            <a:off x="3367800" y="5060160"/>
            <a:ext cx="660600" cy="332640"/>
          </a:xfrm>
          <a:prstGeom prst="line">
            <a:avLst/>
          </a:prstGeom>
          <a:ln w="254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8" name="Shape 78"/>
          <p:cNvSpPr/>
          <p:nvPr/>
        </p:nvSpPr>
        <p:spPr>
          <a:xfrm flipV="1">
            <a:off x="4028400" y="5265000"/>
            <a:ext cx="660600" cy="127800"/>
          </a:xfrm>
          <a:prstGeom prst="line">
            <a:avLst/>
          </a:prstGeom>
          <a:ln w="254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9" name="Shape 79"/>
          <p:cNvSpPr/>
          <p:nvPr/>
        </p:nvSpPr>
        <p:spPr>
          <a:xfrm>
            <a:off x="4689000" y="5265000"/>
            <a:ext cx="943560" cy="255960"/>
          </a:xfrm>
          <a:prstGeom prst="line">
            <a:avLst/>
          </a:prstGeom>
          <a:ln w="254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0" name="Text 80"/>
          <p:cNvSpPr/>
          <p:nvPr/>
        </p:nvSpPr>
        <p:spPr>
          <a:xfrm>
            <a:off x="887040" y="5733360"/>
            <a:ext cx="473616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79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PLACEHOLDER · INSERT PROJECT OUTPUT</a:t>
            </a:r>
            <a:endParaRPr b="0" lang="en-US" sz="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1" name="Shape 81"/>
          <p:cNvSpPr/>
          <p:nvPr/>
        </p:nvSpPr>
        <p:spPr>
          <a:xfrm>
            <a:off x="6236280" y="3913560"/>
            <a:ext cx="5376240" cy="2057040"/>
          </a:xfrm>
          <a:prstGeom prst="rect">
            <a:avLst/>
          </a:prstGeom>
          <a:solidFill>
            <a:srgbClr val="0c1d30"/>
          </a:solidFill>
          <a:ln w="10160">
            <a:solidFill>
              <a:srgbClr val="1b3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2" name="Text 82"/>
          <p:cNvSpPr/>
          <p:nvPr/>
        </p:nvSpPr>
        <p:spPr>
          <a:xfrm>
            <a:off x="6419160" y="4050720"/>
            <a:ext cx="5010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Future forecast graph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3" name="Shape 83"/>
          <p:cNvSpPr/>
          <p:nvPr/>
        </p:nvSpPr>
        <p:spPr>
          <a:xfrm>
            <a:off x="6583680" y="5623560"/>
            <a:ext cx="4718160" cy="360"/>
          </a:xfrm>
          <a:prstGeom prst="line">
            <a:avLst/>
          </a:prstGeom>
          <a:ln w="10160">
            <a:solidFill>
              <a:srgbClr val="8ca5b8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4" name="Shape 84"/>
          <p:cNvSpPr/>
          <p:nvPr/>
        </p:nvSpPr>
        <p:spPr>
          <a:xfrm>
            <a:off x="6583680" y="4343400"/>
            <a:ext cx="360" cy="1280160"/>
          </a:xfrm>
          <a:prstGeom prst="line">
            <a:avLst/>
          </a:prstGeom>
          <a:ln w="10160">
            <a:solidFill>
              <a:srgbClr val="8ca5b8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5" name="Shape 85"/>
          <p:cNvSpPr/>
          <p:nvPr/>
        </p:nvSpPr>
        <p:spPr>
          <a:xfrm>
            <a:off x="6583680" y="4701600"/>
            <a:ext cx="613080" cy="255960"/>
          </a:xfrm>
          <a:prstGeom prst="line">
            <a:avLst/>
          </a:prstGeom>
          <a:ln w="25400">
            <a:solidFill>
              <a:srgbClr val="35e6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6" name="Shape 86"/>
          <p:cNvSpPr/>
          <p:nvPr/>
        </p:nvSpPr>
        <p:spPr>
          <a:xfrm flipV="1">
            <a:off x="7196760" y="4880880"/>
            <a:ext cx="566280" cy="76680"/>
          </a:xfrm>
          <a:prstGeom prst="line">
            <a:avLst/>
          </a:prstGeom>
          <a:ln w="25400">
            <a:solidFill>
              <a:srgbClr val="35e6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1680" bIns="3168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7" name="Shape 87"/>
          <p:cNvSpPr/>
          <p:nvPr/>
        </p:nvSpPr>
        <p:spPr>
          <a:xfrm>
            <a:off x="7763040" y="4880880"/>
            <a:ext cx="613440" cy="358560"/>
          </a:xfrm>
          <a:prstGeom prst="line">
            <a:avLst/>
          </a:prstGeom>
          <a:ln w="25400">
            <a:solidFill>
              <a:srgbClr val="35e6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8" name="Shape 88"/>
          <p:cNvSpPr/>
          <p:nvPr/>
        </p:nvSpPr>
        <p:spPr>
          <a:xfrm flipV="1">
            <a:off x="8376480" y="5060160"/>
            <a:ext cx="660600" cy="179280"/>
          </a:xfrm>
          <a:prstGeom prst="line">
            <a:avLst/>
          </a:prstGeom>
          <a:ln w="25400">
            <a:solidFill>
              <a:srgbClr val="35e6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9" name="Shape 89"/>
          <p:cNvSpPr/>
          <p:nvPr/>
        </p:nvSpPr>
        <p:spPr>
          <a:xfrm>
            <a:off x="9037080" y="5060160"/>
            <a:ext cx="660600" cy="332640"/>
          </a:xfrm>
          <a:prstGeom prst="line">
            <a:avLst/>
          </a:prstGeom>
          <a:ln w="25400">
            <a:solidFill>
              <a:srgbClr val="35e6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0" name="Shape 90"/>
          <p:cNvSpPr/>
          <p:nvPr/>
        </p:nvSpPr>
        <p:spPr>
          <a:xfrm flipV="1">
            <a:off x="9697680" y="5265000"/>
            <a:ext cx="660600" cy="127800"/>
          </a:xfrm>
          <a:prstGeom prst="line">
            <a:avLst/>
          </a:prstGeom>
          <a:ln w="25400">
            <a:solidFill>
              <a:srgbClr val="35e6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1" name="Shape 91"/>
          <p:cNvSpPr/>
          <p:nvPr/>
        </p:nvSpPr>
        <p:spPr>
          <a:xfrm>
            <a:off x="10358280" y="5265000"/>
            <a:ext cx="943560" cy="255960"/>
          </a:xfrm>
          <a:prstGeom prst="line">
            <a:avLst/>
          </a:prstGeom>
          <a:ln w="25400">
            <a:solidFill>
              <a:srgbClr val="35e6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2" name="Text 92"/>
          <p:cNvSpPr/>
          <p:nvPr/>
        </p:nvSpPr>
        <p:spPr>
          <a:xfrm>
            <a:off x="6556320" y="5733360"/>
            <a:ext cx="473616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79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PLACEHOLDER · INSERT PROJECT OUTPUT</a:t>
            </a:r>
            <a:endParaRPr b="0" lang="en-US" sz="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3" name="Text 93"/>
          <p:cNvSpPr/>
          <p:nvPr/>
        </p:nvSpPr>
        <p:spPr>
          <a:xfrm>
            <a:off x="1828800" y="6144840"/>
            <a:ext cx="8549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Interactive Plotly views support inspection, comparison, and presentation of model outputs.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5" name="Shape 1"/>
          <p:cNvSpPr/>
          <p:nvPr/>
        </p:nvSpPr>
        <p:spPr>
          <a:xfrm>
            <a:off x="5029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6" name="Shape 2"/>
          <p:cNvSpPr/>
          <p:nvPr/>
        </p:nvSpPr>
        <p:spPr>
          <a:xfrm>
            <a:off x="10058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7" name="Shape 3"/>
          <p:cNvSpPr/>
          <p:nvPr/>
        </p:nvSpPr>
        <p:spPr>
          <a:xfrm>
            <a:off x="15087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8" name="Shape 4"/>
          <p:cNvSpPr/>
          <p:nvPr/>
        </p:nvSpPr>
        <p:spPr>
          <a:xfrm>
            <a:off x="20116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9" name="Shape 5"/>
          <p:cNvSpPr/>
          <p:nvPr/>
        </p:nvSpPr>
        <p:spPr>
          <a:xfrm>
            <a:off x="25146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0" name="Shape 6"/>
          <p:cNvSpPr/>
          <p:nvPr/>
        </p:nvSpPr>
        <p:spPr>
          <a:xfrm>
            <a:off x="30175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1" name="Shape 7"/>
          <p:cNvSpPr/>
          <p:nvPr/>
        </p:nvSpPr>
        <p:spPr>
          <a:xfrm>
            <a:off x="35204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2" name="Shape 8"/>
          <p:cNvSpPr/>
          <p:nvPr/>
        </p:nvSpPr>
        <p:spPr>
          <a:xfrm>
            <a:off x="40233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3" name="Shape 9"/>
          <p:cNvSpPr/>
          <p:nvPr/>
        </p:nvSpPr>
        <p:spPr>
          <a:xfrm>
            <a:off x="45262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4" name="Shape 10"/>
          <p:cNvSpPr/>
          <p:nvPr/>
        </p:nvSpPr>
        <p:spPr>
          <a:xfrm>
            <a:off x="50292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5" name="Shape 11"/>
          <p:cNvSpPr/>
          <p:nvPr/>
        </p:nvSpPr>
        <p:spPr>
          <a:xfrm>
            <a:off x="55321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6" name="Shape 12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7" name="Shape 13"/>
          <p:cNvSpPr/>
          <p:nvPr/>
        </p:nvSpPr>
        <p:spPr>
          <a:xfrm>
            <a:off x="65379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8" name="Shape 14"/>
          <p:cNvSpPr/>
          <p:nvPr/>
        </p:nvSpPr>
        <p:spPr>
          <a:xfrm>
            <a:off x="70408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9" name="Shape 15"/>
          <p:cNvSpPr/>
          <p:nvPr/>
        </p:nvSpPr>
        <p:spPr>
          <a:xfrm>
            <a:off x="75438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0" name="Shape 16"/>
          <p:cNvSpPr/>
          <p:nvPr/>
        </p:nvSpPr>
        <p:spPr>
          <a:xfrm>
            <a:off x="80467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1" name="Shape 17"/>
          <p:cNvSpPr/>
          <p:nvPr/>
        </p:nvSpPr>
        <p:spPr>
          <a:xfrm>
            <a:off x="85496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2" name="Shape 18"/>
          <p:cNvSpPr/>
          <p:nvPr/>
        </p:nvSpPr>
        <p:spPr>
          <a:xfrm>
            <a:off x="90525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3" name="Shape 19"/>
          <p:cNvSpPr/>
          <p:nvPr/>
        </p:nvSpPr>
        <p:spPr>
          <a:xfrm>
            <a:off x="95554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4" name="Shape 20"/>
          <p:cNvSpPr/>
          <p:nvPr/>
        </p:nvSpPr>
        <p:spPr>
          <a:xfrm>
            <a:off x="1005840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5" name="Shape 21"/>
          <p:cNvSpPr/>
          <p:nvPr/>
        </p:nvSpPr>
        <p:spPr>
          <a:xfrm>
            <a:off x="1056132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6" name="Shape 22"/>
          <p:cNvSpPr/>
          <p:nvPr/>
        </p:nvSpPr>
        <p:spPr>
          <a:xfrm>
            <a:off x="1106424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7" name="Shape 23"/>
          <p:cNvSpPr/>
          <p:nvPr/>
        </p:nvSpPr>
        <p:spPr>
          <a:xfrm>
            <a:off x="1156716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8" name="Shape 24"/>
          <p:cNvSpPr/>
          <p:nvPr/>
        </p:nvSpPr>
        <p:spPr>
          <a:xfrm>
            <a:off x="12070080" y="0"/>
            <a:ext cx="360" cy="685800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9" name="Shape 25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0" name="Shape 26"/>
          <p:cNvSpPr/>
          <p:nvPr/>
        </p:nvSpPr>
        <p:spPr>
          <a:xfrm>
            <a:off x="0" y="5029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1" name="Shape 27"/>
          <p:cNvSpPr/>
          <p:nvPr/>
        </p:nvSpPr>
        <p:spPr>
          <a:xfrm>
            <a:off x="0" y="10058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2" name="Shape 28"/>
          <p:cNvSpPr/>
          <p:nvPr/>
        </p:nvSpPr>
        <p:spPr>
          <a:xfrm>
            <a:off x="0" y="15087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3" name="Shape 29"/>
          <p:cNvSpPr/>
          <p:nvPr/>
        </p:nvSpPr>
        <p:spPr>
          <a:xfrm>
            <a:off x="0" y="201168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4" name="Shape 30"/>
          <p:cNvSpPr/>
          <p:nvPr/>
        </p:nvSpPr>
        <p:spPr>
          <a:xfrm>
            <a:off x="0" y="251460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5" name="Shape 31"/>
          <p:cNvSpPr/>
          <p:nvPr/>
        </p:nvSpPr>
        <p:spPr>
          <a:xfrm>
            <a:off x="0" y="30175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6" name="Shape 32"/>
          <p:cNvSpPr/>
          <p:nvPr/>
        </p:nvSpPr>
        <p:spPr>
          <a:xfrm>
            <a:off x="0" y="35204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7" name="Shape 33"/>
          <p:cNvSpPr/>
          <p:nvPr/>
        </p:nvSpPr>
        <p:spPr>
          <a:xfrm>
            <a:off x="0" y="40233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8" name="Shape 34"/>
          <p:cNvSpPr/>
          <p:nvPr/>
        </p:nvSpPr>
        <p:spPr>
          <a:xfrm>
            <a:off x="0" y="452628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9" name="Shape 35"/>
          <p:cNvSpPr/>
          <p:nvPr/>
        </p:nvSpPr>
        <p:spPr>
          <a:xfrm>
            <a:off x="0" y="502920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0" name="Shape 36"/>
          <p:cNvSpPr/>
          <p:nvPr/>
        </p:nvSpPr>
        <p:spPr>
          <a:xfrm>
            <a:off x="0" y="553212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1" name="Shape 37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2" name="Shape 38"/>
          <p:cNvSpPr/>
          <p:nvPr/>
        </p:nvSpPr>
        <p:spPr>
          <a:xfrm>
            <a:off x="0" y="6537960"/>
            <a:ext cx="12191400" cy="360"/>
          </a:xfrm>
          <a:prstGeom prst="line">
            <a:avLst/>
          </a:prstGeom>
          <a:ln w="4445">
            <a:solidFill>
              <a:srgbClr val="1b3a52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3" name="Text 39"/>
          <p:cNvSpPr/>
          <p:nvPr/>
        </p:nvSpPr>
        <p:spPr>
          <a:xfrm>
            <a:off x="502920" y="292680"/>
            <a:ext cx="502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39" strike="noStrike" u="none">
                <a:solidFill>
                  <a:srgbClr val="35e6a3"/>
                </a:solidFill>
                <a:effectLst/>
                <a:uFillTx/>
                <a:latin typeface="Aptos"/>
                <a:ea typeface="Aptos"/>
              </a:rPr>
              <a:t>14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4" name="Text 40"/>
          <p:cNvSpPr/>
          <p:nvPr/>
        </p:nvSpPr>
        <p:spPr>
          <a:xfrm>
            <a:off x="1078920" y="29268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59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RECURSIVE MULTI-STEP PREDICTION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5" name="Text 41"/>
          <p:cNvSpPr/>
          <p:nvPr/>
        </p:nvSpPr>
        <p:spPr>
          <a:xfrm>
            <a:off x="502920" y="65844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6faff"/>
                </a:solidFill>
                <a:effectLst/>
                <a:uFillTx/>
                <a:latin typeface="Aptos Display"/>
                <a:ea typeface="Aptos Display"/>
              </a:rPr>
              <a:t>Future Forecast &amp; Conclusion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6" name="Shape 42"/>
          <p:cNvSpPr/>
          <p:nvPr/>
        </p:nvSpPr>
        <p:spPr>
          <a:xfrm>
            <a:off x="502920" y="1298160"/>
            <a:ext cx="11155680" cy="360"/>
          </a:xfrm>
          <a:prstGeom prst="line">
            <a:avLst/>
          </a:prstGeom>
          <a:ln w="12700">
            <a:solidFill>
              <a:srgbClr val="1b3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7" name="Shape 43"/>
          <p:cNvSpPr/>
          <p:nvPr/>
        </p:nvSpPr>
        <p:spPr>
          <a:xfrm>
            <a:off x="502920" y="1298160"/>
            <a:ext cx="1234440" cy="360"/>
          </a:xfrm>
          <a:prstGeom prst="line">
            <a:avLst/>
          </a:prstGeom>
          <a:ln w="381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8" name="Text 44"/>
          <p:cNvSpPr/>
          <p:nvPr/>
        </p:nvSpPr>
        <p:spPr>
          <a:xfrm>
            <a:off x="7955280" y="6519600"/>
            <a:ext cx="3702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99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AI STOCK PRICE PREDICTOR  /  LSTM + GRU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9" name="Shape 45"/>
          <p:cNvSpPr/>
          <p:nvPr/>
        </p:nvSpPr>
        <p:spPr>
          <a:xfrm>
            <a:off x="594360" y="1664280"/>
            <a:ext cx="2395440" cy="868320"/>
          </a:xfrm>
          <a:prstGeom prst="roundRect">
            <a:avLst>
              <a:gd name="adj" fmla="val 8421"/>
            </a:avLst>
          </a:prstGeom>
          <a:solidFill>
            <a:srgbClr val="10243a"/>
          </a:solidFill>
          <a:ln w="15240">
            <a:solidFill>
              <a:srgbClr val="22d3ee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0" name="Text 46"/>
          <p:cNvSpPr/>
          <p:nvPr/>
        </p:nvSpPr>
        <p:spPr>
          <a:xfrm>
            <a:off x="685800" y="1774080"/>
            <a:ext cx="2212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Historical Window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1" name="Text 47"/>
          <p:cNvSpPr/>
          <p:nvPr/>
        </p:nvSpPr>
        <p:spPr>
          <a:xfrm>
            <a:off x="685800" y="2057400"/>
            <a:ext cx="221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last N scaled values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2" name="Shape 48"/>
          <p:cNvSpPr/>
          <p:nvPr/>
        </p:nvSpPr>
        <p:spPr>
          <a:xfrm>
            <a:off x="2999160" y="2103120"/>
            <a:ext cx="429840" cy="360"/>
          </a:xfrm>
          <a:prstGeom prst="line">
            <a:avLst/>
          </a:prstGeom>
          <a:ln w="19050">
            <a:solidFill>
              <a:srgbClr val="38bd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3" name="Shape 49"/>
          <p:cNvSpPr/>
          <p:nvPr/>
        </p:nvSpPr>
        <p:spPr>
          <a:xfrm>
            <a:off x="3465720" y="1664280"/>
            <a:ext cx="2395440" cy="868320"/>
          </a:xfrm>
          <a:prstGeom prst="roundRect">
            <a:avLst>
              <a:gd name="adj" fmla="val 8421"/>
            </a:avLst>
          </a:prstGeom>
          <a:solidFill>
            <a:srgbClr val="10243a"/>
          </a:solidFill>
          <a:ln w="15240">
            <a:solidFill>
              <a:srgbClr val="22d3ee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4" name="Text 50"/>
          <p:cNvSpPr/>
          <p:nvPr/>
        </p:nvSpPr>
        <p:spPr>
          <a:xfrm>
            <a:off x="3557160" y="1774080"/>
            <a:ext cx="2212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Predict Next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5" name="Text 51"/>
          <p:cNvSpPr/>
          <p:nvPr/>
        </p:nvSpPr>
        <p:spPr>
          <a:xfrm>
            <a:off x="3557160" y="2057400"/>
            <a:ext cx="221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model output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6" name="Shape 52"/>
          <p:cNvSpPr/>
          <p:nvPr/>
        </p:nvSpPr>
        <p:spPr>
          <a:xfrm>
            <a:off x="5870160" y="2103120"/>
            <a:ext cx="429840" cy="360"/>
          </a:xfrm>
          <a:prstGeom prst="line">
            <a:avLst/>
          </a:prstGeom>
          <a:ln w="19050">
            <a:solidFill>
              <a:srgbClr val="38bd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7" name="Shape 53"/>
          <p:cNvSpPr/>
          <p:nvPr/>
        </p:nvSpPr>
        <p:spPr>
          <a:xfrm>
            <a:off x="6336720" y="1664280"/>
            <a:ext cx="2395440" cy="868320"/>
          </a:xfrm>
          <a:prstGeom prst="roundRect">
            <a:avLst>
              <a:gd name="adj" fmla="val 8421"/>
            </a:avLst>
          </a:prstGeom>
          <a:solidFill>
            <a:srgbClr val="10243a"/>
          </a:solidFill>
          <a:ln w="15240">
            <a:solidFill>
              <a:srgbClr val="22d3ee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8" name="Text 54"/>
          <p:cNvSpPr/>
          <p:nvPr/>
        </p:nvSpPr>
        <p:spPr>
          <a:xfrm>
            <a:off x="6428160" y="1774080"/>
            <a:ext cx="2212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Append Prediction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9" name="Text 55"/>
          <p:cNvSpPr/>
          <p:nvPr/>
        </p:nvSpPr>
        <p:spPr>
          <a:xfrm>
            <a:off x="6428160" y="2057400"/>
            <a:ext cx="221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update sequence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0" name="Shape 56"/>
          <p:cNvSpPr/>
          <p:nvPr/>
        </p:nvSpPr>
        <p:spPr>
          <a:xfrm>
            <a:off x="8741520" y="2103120"/>
            <a:ext cx="429840" cy="360"/>
          </a:xfrm>
          <a:prstGeom prst="line">
            <a:avLst/>
          </a:prstGeom>
          <a:ln w="19050">
            <a:solidFill>
              <a:srgbClr val="35e6a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1" name="Shape 57"/>
          <p:cNvSpPr/>
          <p:nvPr/>
        </p:nvSpPr>
        <p:spPr>
          <a:xfrm>
            <a:off x="9208080" y="1664280"/>
            <a:ext cx="2395440" cy="868320"/>
          </a:xfrm>
          <a:prstGeom prst="roundRect">
            <a:avLst>
              <a:gd name="adj" fmla="val 8421"/>
            </a:avLst>
          </a:prstGeom>
          <a:solidFill>
            <a:srgbClr val="10243a"/>
          </a:solidFill>
          <a:ln w="15240">
            <a:solidFill>
              <a:srgbClr val="35e6a3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2" name="Text 58"/>
          <p:cNvSpPr/>
          <p:nvPr/>
        </p:nvSpPr>
        <p:spPr>
          <a:xfrm>
            <a:off x="9299520" y="1774080"/>
            <a:ext cx="2212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Repeat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3" name="Text 59"/>
          <p:cNvSpPr/>
          <p:nvPr/>
        </p:nvSpPr>
        <p:spPr>
          <a:xfrm>
            <a:off x="9299520" y="2057400"/>
            <a:ext cx="221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next trading day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4" name="Shape 60"/>
          <p:cNvSpPr/>
          <p:nvPr/>
        </p:nvSpPr>
        <p:spPr>
          <a:xfrm>
            <a:off x="3337560" y="2880360"/>
            <a:ext cx="1142640" cy="347040"/>
          </a:xfrm>
          <a:prstGeom prst="roundRect">
            <a:avLst>
              <a:gd name="adj" fmla="val 21053"/>
            </a:avLst>
          </a:prstGeom>
          <a:solidFill>
            <a:srgbClr val="22d3ee">
              <a:alpha val="18000"/>
            </a:srgbClr>
          </a:solidFill>
          <a:ln w="10160">
            <a:solidFill>
              <a:srgbClr val="22d3ee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5" name="Text 61"/>
          <p:cNvSpPr/>
          <p:nvPr/>
        </p:nvSpPr>
        <p:spPr>
          <a:xfrm>
            <a:off x="3410640" y="2962800"/>
            <a:ext cx="996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1 day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6" name="Shape 62"/>
          <p:cNvSpPr/>
          <p:nvPr/>
        </p:nvSpPr>
        <p:spPr>
          <a:xfrm>
            <a:off x="4727520" y="2880360"/>
            <a:ext cx="1142640" cy="347040"/>
          </a:xfrm>
          <a:prstGeom prst="roundRect">
            <a:avLst>
              <a:gd name="adj" fmla="val 21053"/>
            </a:avLst>
          </a:prstGeom>
          <a:solidFill>
            <a:srgbClr val="22d3ee">
              <a:alpha val="18000"/>
            </a:srgbClr>
          </a:solidFill>
          <a:ln w="10160">
            <a:solidFill>
              <a:srgbClr val="22d3ee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7" name="Text 63"/>
          <p:cNvSpPr/>
          <p:nvPr/>
        </p:nvSpPr>
        <p:spPr>
          <a:xfrm>
            <a:off x="4800600" y="2962800"/>
            <a:ext cx="996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5 days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8" name="Shape 64"/>
          <p:cNvSpPr/>
          <p:nvPr/>
        </p:nvSpPr>
        <p:spPr>
          <a:xfrm>
            <a:off x="6117480" y="2880360"/>
            <a:ext cx="1142640" cy="347040"/>
          </a:xfrm>
          <a:prstGeom prst="roundRect">
            <a:avLst>
              <a:gd name="adj" fmla="val 21053"/>
            </a:avLst>
          </a:prstGeom>
          <a:solidFill>
            <a:srgbClr val="22d3ee">
              <a:alpha val="18000"/>
            </a:srgbClr>
          </a:solidFill>
          <a:ln w="10160">
            <a:solidFill>
              <a:srgbClr val="22d3ee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9" name="Text 65"/>
          <p:cNvSpPr/>
          <p:nvPr/>
        </p:nvSpPr>
        <p:spPr>
          <a:xfrm>
            <a:off x="6190560" y="2962800"/>
            <a:ext cx="996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7 days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0" name="Shape 66"/>
          <p:cNvSpPr/>
          <p:nvPr/>
        </p:nvSpPr>
        <p:spPr>
          <a:xfrm>
            <a:off x="7507080" y="2880360"/>
            <a:ext cx="1142640" cy="347040"/>
          </a:xfrm>
          <a:prstGeom prst="roundRect">
            <a:avLst>
              <a:gd name="adj" fmla="val 21053"/>
            </a:avLst>
          </a:prstGeom>
          <a:solidFill>
            <a:srgbClr val="35e6a3">
              <a:alpha val="18000"/>
            </a:srgbClr>
          </a:solidFill>
          <a:ln w="10160">
            <a:solidFill>
              <a:srgbClr val="35e6a3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1" name="Text 67"/>
          <p:cNvSpPr/>
          <p:nvPr/>
        </p:nvSpPr>
        <p:spPr>
          <a:xfrm>
            <a:off x="7580520" y="2962800"/>
            <a:ext cx="996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35e6a3"/>
                </a:solidFill>
                <a:effectLst/>
                <a:uFillTx/>
                <a:latin typeface="Aptos"/>
              </a:rPr>
              <a:t>30 days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2" name="Shape 68"/>
          <p:cNvSpPr/>
          <p:nvPr/>
        </p:nvSpPr>
        <p:spPr>
          <a:xfrm>
            <a:off x="594360" y="3657600"/>
            <a:ext cx="5577480" cy="210276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3" name="Shape 69"/>
          <p:cNvSpPr/>
          <p:nvPr/>
        </p:nvSpPr>
        <p:spPr>
          <a:xfrm>
            <a:off x="594360" y="3657600"/>
            <a:ext cx="50040" cy="21027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4" name="Text 70"/>
          <p:cNvSpPr/>
          <p:nvPr/>
        </p:nvSpPr>
        <p:spPr>
          <a:xfrm>
            <a:off x="859680" y="3886200"/>
            <a:ext cx="1416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11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CONCLUSION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5" name="Text 71"/>
          <p:cNvSpPr/>
          <p:nvPr/>
        </p:nvSpPr>
        <p:spPr>
          <a:xfrm>
            <a:off x="859680" y="4343400"/>
            <a:ext cx="502884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d9e7f2"/>
                </a:solidFill>
                <a:effectLst/>
                <a:uFillTx/>
                <a:latin typeface="Aptos"/>
              </a:rPr>
              <a:t>The project demonstrates how LSTM and GRU can model historical stock-market sequences. It integrates data collection, preprocessing, neural-network training, evaluation, visualization, and recursive forecasting in a Flask-based web application.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6" name="Shape 72"/>
          <p:cNvSpPr/>
          <p:nvPr/>
        </p:nvSpPr>
        <p:spPr>
          <a:xfrm>
            <a:off x="6446520" y="3657600"/>
            <a:ext cx="5166000" cy="2102760"/>
          </a:xfrm>
          <a:prstGeom prst="rect">
            <a:avLst/>
          </a:prstGeom>
          <a:solidFill>
            <a:srgbClr val="0c1d30">
              <a:alpha val="95000"/>
            </a:srgbClr>
          </a:solidFill>
          <a:ln w="10160">
            <a:solidFill>
              <a:srgbClr val="1b3a52"/>
            </a:solidFill>
            <a:round/>
          </a:ln>
          <a:effectLst>
            <a:outerShdw algn="bl" blurRad="38160" dir="8100000" dist="50402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7" name="Shape 73"/>
          <p:cNvSpPr/>
          <p:nvPr/>
        </p:nvSpPr>
        <p:spPr>
          <a:xfrm>
            <a:off x="6446520" y="3657600"/>
            <a:ext cx="50040" cy="2102760"/>
          </a:xfrm>
          <a:prstGeom prst="rect">
            <a:avLst/>
          </a:prstGeom>
          <a:solidFill>
            <a:srgbClr val="35e6a3"/>
          </a:solidFill>
          <a:ln w="12700">
            <a:solidFill>
              <a:srgbClr val="35e6a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Text 74"/>
          <p:cNvSpPr/>
          <p:nvPr/>
        </p:nvSpPr>
        <p:spPr>
          <a:xfrm>
            <a:off x="6702480" y="3886200"/>
            <a:ext cx="1416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11" strike="noStrike" u="none">
                <a:solidFill>
                  <a:srgbClr val="35e6a3"/>
                </a:solidFill>
                <a:effectLst/>
                <a:uFillTx/>
                <a:latin typeface="Aptos"/>
              </a:rPr>
              <a:t>FUTURE SCOPE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9" name="Text 75"/>
          <p:cNvSpPr/>
          <p:nvPr/>
        </p:nvSpPr>
        <p:spPr>
          <a:xfrm>
            <a:off x="6702480" y="4297680"/>
            <a:ext cx="4571640" cy="12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t">
            <a:normAutofit/>
          </a:bodyPr>
          <a:p>
            <a:pPr marL="203040" indent="-203040" defTabSz="914400">
              <a:lnSpc>
                <a:spcPct val="100000"/>
              </a:lnSpc>
              <a:buClr>
                <a:srgbClr val="d9e7f2"/>
              </a:buClr>
              <a:buFont typeface="Symbol" charset="2"/>
              <a:buChar char=""/>
            </a:pPr>
            <a:r>
              <a:rPr b="0" lang="en-US" sz="1220" strike="noStrike" u="none">
                <a:solidFill>
                  <a:srgbClr val="d9e7f2"/>
                </a:solidFill>
                <a:effectLst/>
                <a:uFillTx/>
                <a:latin typeface="Aptos"/>
              </a:rPr>
              <a:t>Add technical indicators</a:t>
            </a:r>
            <a:endParaRPr b="0" lang="en-US" sz="12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d9e7f2"/>
              </a:buClr>
              <a:buFont typeface="Symbol" charset="2"/>
              <a:buChar char=""/>
            </a:pPr>
            <a:r>
              <a:rPr b="0" lang="en-US" sz="1220" strike="noStrike" u="none">
                <a:solidFill>
                  <a:srgbClr val="d9e7f2"/>
                </a:solidFill>
                <a:effectLst/>
                <a:uFillTx/>
                <a:latin typeface="Aptos"/>
              </a:rPr>
              <a:t>Experiment with Transformer models</a:t>
            </a:r>
            <a:endParaRPr b="0" lang="en-US" sz="12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d9e7f2"/>
              </a:buClr>
              <a:buFont typeface="Symbol" charset="2"/>
              <a:buChar char=""/>
            </a:pPr>
            <a:r>
              <a:rPr b="0" lang="en-US" sz="1220" strike="noStrike" u="none">
                <a:solidFill>
                  <a:srgbClr val="d9e7f2"/>
                </a:solidFill>
                <a:effectLst/>
                <a:uFillTx/>
                <a:latin typeface="Aptos"/>
              </a:rPr>
              <a:t>Incorporate news and sentiment</a:t>
            </a:r>
            <a:endParaRPr b="0" lang="en-US" sz="12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d9e7f2"/>
              </a:buClr>
              <a:buFont typeface="Symbol" charset="2"/>
              <a:buChar char=""/>
            </a:pPr>
            <a:r>
              <a:rPr b="0" lang="en-US" sz="1220" strike="noStrike" u="none">
                <a:solidFill>
                  <a:srgbClr val="d9e7f2"/>
                </a:solidFill>
                <a:effectLst/>
                <a:uFillTx/>
                <a:latin typeface="Aptos"/>
              </a:rPr>
              <a:t>Optimize hyperparameters</a:t>
            </a:r>
            <a:endParaRPr b="0" lang="en-US" sz="12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d9e7f2"/>
              </a:buClr>
              <a:buFont typeface="Symbol" charset="2"/>
              <a:buChar char=""/>
            </a:pPr>
            <a:r>
              <a:rPr b="0" lang="en-US" sz="1220" strike="noStrike" u="none">
                <a:solidFill>
                  <a:srgbClr val="d9e7f2"/>
                </a:solidFill>
                <a:effectLst/>
                <a:uFillTx/>
                <a:latin typeface="Aptos"/>
              </a:rPr>
              <a:t>Integrate real-time market data</a:t>
            </a:r>
            <a:endParaRPr b="0" lang="en-US" sz="12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d9e7f2"/>
              </a:buClr>
              <a:buFont typeface="Symbol" charset="2"/>
              <a:buChar char=""/>
            </a:pPr>
            <a:r>
              <a:rPr b="0" lang="en-US" sz="1220" strike="noStrike" u="none">
                <a:solidFill>
                  <a:srgbClr val="d9e7f2"/>
                </a:solidFill>
                <a:effectLst/>
                <a:uFillTx/>
                <a:latin typeface="Aptos"/>
              </a:rPr>
              <a:t>Deploy to cloud infrastructure</a:t>
            </a:r>
            <a:endParaRPr b="0" lang="en-US" sz="12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0" name="Text 76"/>
          <p:cNvSpPr/>
          <p:nvPr/>
        </p:nvSpPr>
        <p:spPr>
          <a:xfrm>
            <a:off x="1417320" y="6053400"/>
            <a:ext cx="9326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Recursive forecasts compound uncertainty · Academic use only · Not financial advice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7111f">
              <a:alpha val="84000"/>
            </a:srgbClr>
          </a:solidFill>
          <a:ln w="12700">
            <a:solidFill>
              <a:srgbClr val="0711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2" name="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7111f">
              <a:alpha val="62000"/>
            </a:srgbClr>
          </a:solidFill>
          <a:ln w="12700">
            <a:solidFill>
              <a:srgbClr val="0711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3" name="Shape 2"/>
          <p:cNvSpPr/>
          <p:nvPr/>
        </p:nvSpPr>
        <p:spPr>
          <a:xfrm>
            <a:off x="4407480" y="1033200"/>
            <a:ext cx="3401280" cy="347040"/>
          </a:xfrm>
          <a:prstGeom prst="roundRect">
            <a:avLst>
              <a:gd name="adj" fmla="val 21053"/>
            </a:avLst>
          </a:prstGeom>
          <a:solidFill>
            <a:srgbClr val="35e6a3">
              <a:alpha val="18000"/>
            </a:srgbClr>
          </a:solidFill>
          <a:ln w="10160">
            <a:solidFill>
              <a:srgbClr val="35e6a3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4" name="Text 3"/>
          <p:cNvSpPr/>
          <p:nvPr/>
        </p:nvSpPr>
        <p:spPr>
          <a:xfrm>
            <a:off x="4480560" y="1115640"/>
            <a:ext cx="3254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35e6a3"/>
                </a:solidFill>
                <a:effectLst/>
                <a:uFillTx/>
                <a:latin typeface="Aptos"/>
              </a:rPr>
              <a:t>PROJECT REVIEW · QUESTIONS &amp; DISCUSSION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5" name="Text 4"/>
          <p:cNvSpPr/>
          <p:nvPr/>
        </p:nvSpPr>
        <p:spPr>
          <a:xfrm>
            <a:off x="1828800" y="1947600"/>
            <a:ext cx="8530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trike="noStrike" u="none">
                <a:solidFill>
                  <a:srgbClr val="f6faff"/>
                </a:solidFill>
                <a:effectLst/>
                <a:uFillTx/>
                <a:latin typeface="Aptos"/>
              </a:rPr>
              <a:t>Thank You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6" name="Text 5"/>
          <p:cNvSpPr/>
          <p:nvPr/>
        </p:nvSpPr>
        <p:spPr>
          <a:xfrm>
            <a:off x="1828800" y="2962800"/>
            <a:ext cx="8530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22d3ee"/>
                </a:solidFill>
                <a:effectLst/>
                <a:uFillTx/>
                <a:latin typeface="Aptos"/>
              </a:rPr>
              <a:t>AI Stock Price Predictor Using LSTM &amp; GRU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7" name="Text 6"/>
          <p:cNvSpPr/>
          <p:nvPr/>
        </p:nvSpPr>
        <p:spPr>
          <a:xfrm>
            <a:off x="1828800" y="3657600"/>
            <a:ext cx="853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9e7f2"/>
                </a:solidFill>
                <a:effectLst/>
                <a:uFillTx/>
                <a:latin typeface="Aptos"/>
              </a:rPr>
              <a:t>G Yuvan Shivamani  ·  Roll No. 2520030310  ·  B.Tech CSE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8" name="Shape 7"/>
          <p:cNvSpPr/>
          <p:nvPr/>
        </p:nvSpPr>
        <p:spPr>
          <a:xfrm>
            <a:off x="3867840" y="4260960"/>
            <a:ext cx="4453200" cy="360"/>
          </a:xfrm>
          <a:prstGeom prst="line">
            <a:avLst/>
          </a:prstGeom>
          <a:ln w="25400">
            <a:solidFill>
              <a:srgbClr val="35e6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9" name="Text 8"/>
          <p:cNvSpPr/>
          <p:nvPr/>
        </p:nvSpPr>
        <p:spPr>
          <a:xfrm>
            <a:off x="2286000" y="4736520"/>
            <a:ext cx="7616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ca5b8"/>
                </a:solidFill>
                <a:effectLst/>
                <a:uFillTx/>
                <a:latin typeface="Aptos"/>
              </a:rPr>
              <a:t>Academic / educational demonstration · Predictions are not financial advice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LibreOffice/25.2.6.2$Linux_X86_64 LibreOffice_project/520$Build-2</Application>
  <AppVersion>15.0000</AppVersion>
  <Words>0</Words>
  <Paragraphs>0</Paragraphs>
  <Company>Academic Project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2026-09-24T06:35:18Z</dcterms:created>
  <dc:creator>G Yuvan Shivamani</dc:creator>
  <dc:description/>
  <dc:language>en-US</dc:language>
  <cp:lastModifiedBy>G Yuvan Shivamani</cp:lastModifiedBy>
  <dcterms:modified xsi:type="dcterms:W3CDTF">2026-09-24T06:35:18Z</dcterms:modified>
  <cp:revision>1</cp:revision>
  <dc:subject>B.Tech CSE Machine Learning Project Review</dc:subject>
  <dc:title>AI Stock Price Predictor Using LSTM &amp; GRU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15</vt:r8>
  </property>
  <property fmtid="{D5CDD505-2E9C-101B-9397-08002B2CF9AE}" pid="3" name="PresentationFormat">
    <vt:lpwstr>On-screen Show (16:9)</vt:lpwstr>
  </property>
  <property fmtid="{D5CDD505-2E9C-101B-9397-08002B2CF9AE}" pid="4" name="Slides">
    <vt:r8>15</vt:r8>
  </property>
</Properties>
</file>