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A1F33">
              <a:alpha val="8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1691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FINANCIAL TIME SERIES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2148840"/>
            <a:ext cx="6583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Stock Price Prediction Using LSTM and GRU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822960" y="4069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architectures for sequential market data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22960" y="4754880"/>
            <a:ext cx="128016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029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[YOUR NAME — replace]  |  [DATE — replace]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Deck Covers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52120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F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9476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737360" y="19842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37360" y="238658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forecasting prices is hard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2120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F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9476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315200" y="19842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RNN to LSTM &amp; GRU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0" y="238658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Gating solves vanishing gradients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200400"/>
            <a:ext cx="52120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F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33649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737360" y="34015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 Compared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737360" y="380390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internals, cost, behaviour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3200400"/>
            <a:ext cx="52120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F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2240" y="33649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315200" y="34015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Preprocessing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315200" y="380390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Windowing, scaling, splitting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617720"/>
            <a:ext cx="52120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F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47823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737360" y="48188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Evaluation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737360" y="522122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that actually matter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63640" y="4617720"/>
            <a:ext cx="52120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F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92240" y="47823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7315200" y="48188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Limits, Next Steps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315200" y="522122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read of the outcome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Markets Are Noisy, Non-Stationary Sequences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58521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depend on long-range history, not just yesterday's close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properties drift over time, so fixed models decay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Signal-to-noise is low; overfitting looks like brilliance in backtests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ARIMA assumes linearity that markets rarely respect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12280" y="1737360"/>
            <a:ext cx="4754880" cy="4023360"/>
          </a:xfrm>
          <a:prstGeom prst="roundRect">
            <a:avLst>
              <a:gd name="adj" fmla="val 2727"/>
            </a:avLst>
          </a:prstGeom>
          <a:solidFill>
            <a:srgbClr val="0E2A42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F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2011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sequence models?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178040" y="260604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7178040" y="2606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09560" y="25877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09560" y="290779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context across many timesteps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78040" y="3630168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7178040" y="36301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09560" y="3611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09560" y="39319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regime shifts and momentum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78040" y="4654296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46542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09560" y="46360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909560" y="495604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volume, indicators, sentiment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 RNNs Forget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5669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RNN reuses one hidden state and one weight matrix at every step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through time multiplies gradients repeatedly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shrink toward zero (vanishing) or explode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memory collapses to roughly 10-20 timesteps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cells fix this with learned, additive memory paths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720840" y="1965960"/>
            <a:ext cx="48920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F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49440" y="22402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h(t) = tanh( W·h(t-1) + U·x(t) + b 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86600" y="2834640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multiplication by W across T steps drives the gradient to 0 or infinity.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86600" y="3657600"/>
            <a:ext cx="4160520" cy="18288"/>
          </a:xfrm>
          <a:prstGeom prst="rect">
            <a:avLst/>
          </a:prstGeom>
          <a:solidFill>
            <a:srgbClr val="D7E2E8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0" y="3886200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Gating = a highway for gradients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86600" y="45720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cell updates preserve signal over hundreds of steps.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LSTM: Three Gates and a Cell State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F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783080"/>
            <a:ext cx="3429000" cy="822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057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Forget gate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0120" y="24871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f(t)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8803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drop from the cell state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34840" y="178308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F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1783080"/>
            <a:ext cx="3429000" cy="822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2057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gate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709160" y="24871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i(t)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9160" y="28803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new information to write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83880" y="178308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F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83880" y="1783080"/>
            <a:ext cx="3429000" cy="822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8458200" y="2057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gate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458200" y="24871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o(t)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58200" y="28803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part of memory to expose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206240"/>
            <a:ext cx="10835640" cy="1600200"/>
          </a:xfrm>
          <a:prstGeom prst="roundRect">
            <a:avLst>
              <a:gd name="adj" fmla="val 6857"/>
            </a:avLst>
          </a:prstGeom>
          <a:solidFill>
            <a:srgbClr val="0E2A42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F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5840" y="4434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Cell state C(t)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005840" y="484632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C(t) = f(t) ⊙ C(t-1) + i(t) ⊙ C̃(t)   —   a nearly-linear conveyor belt that lets gradients flow across long horizons, which is exactly what multi-week price context needs.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GRU: Same Idea, Fewer Moving Parts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5669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gates only — update z(t) and reset r(t)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state and hidden state are merged into one vector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gate interpolates between old and candidate state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25% fewer parameters than an LSTM of equal width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faster and resists overfitting on shorter price histories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720840" y="1783080"/>
            <a:ext cx="484632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F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40880" y="20116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equations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040880" y="25603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z(t) = σ( Wz·[h(t-1), x(t)] 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0" y="312724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r(t) = σ( Wr·[h(t-1), x(t)] 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40880" y="3694176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h̃(t) = tanh( W·[r⊙h(t-1), x(t)] 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426110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h(t) = (1-z)⊙h(t-1) + z⊙h̃(t)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498348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gates → fewer parameters → less data needed to fit them.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LSTM vs GRU at a Glance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10835640" cy="603504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83080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80560" y="1783080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92440" y="1783080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2386584"/>
            <a:ext cx="10835640" cy="603504"/>
          </a:xfrm>
          <a:prstGeom prst="rect">
            <a:avLst/>
          </a:prstGeom>
          <a:solidFill>
            <a:srgbClr val="E6EEF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386584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2386584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(forget, input, output)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92440" y="2386584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(update, reset)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2990088"/>
            <a:ext cx="1083564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990088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80560" y="2990088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state + hidden state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092440" y="2990088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 only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" y="3593592"/>
            <a:ext cx="10835640" cy="603504"/>
          </a:xfrm>
          <a:prstGeom prst="rect">
            <a:avLst/>
          </a:prstGeom>
          <a:solidFill>
            <a:srgbClr val="E6EEF3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593592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80560" y="3593592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92440" y="3593592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 fewer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5800" y="4197096"/>
            <a:ext cx="1083564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197096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speed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480560" y="4197096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per epoch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092440" y="4197096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per epoch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85800" y="4800600"/>
            <a:ext cx="10835640" cy="603504"/>
          </a:xfrm>
          <a:prstGeom prst="rect">
            <a:avLst/>
          </a:prstGeom>
          <a:solidFill>
            <a:srgbClr val="E6EEF3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4800600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sequences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480560" y="4800600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stronger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092440" y="4800600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Comparable, sometimes weaker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85800" y="5404104"/>
            <a:ext cx="1083564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5404104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480560" y="5404104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to overfit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092440" y="5404104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more robust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5800" y="5989320"/>
            <a:ext cx="10835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start with GRU as a baseline, escalate to LSTM when sequence length or data volume grows.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and Preprocessing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73736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36192" y="17190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383280" y="171907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 history from a market data API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6060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06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36192" y="258775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83280" y="258775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Returns, moving averages, RSI, volume features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347472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747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36192" y="34564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383280" y="345643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or standard scaler, fit on train only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43434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343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36192" y="432511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383280" y="432511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windows of N days → next-day target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77240" y="521208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212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36192" y="5193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3383280" y="519379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train / validation / test, never shuffled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80960" y="1737360"/>
            <a:ext cx="3886200" cy="4069080"/>
          </a:xfrm>
          <a:prstGeom prst="roundRect">
            <a:avLst>
              <a:gd name="adj" fmla="val 2824"/>
            </a:avLst>
          </a:prstGeom>
          <a:solidFill>
            <a:srgbClr val="0E2A42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F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001000" y="2011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Leakage checklist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8001000" y="2560320"/>
            <a:ext cx="3291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scaler on training data only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shuffle time-ordered rows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every engineered feature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test window untouched until the end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Setup and Training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342900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F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783080"/>
            <a:ext cx="3429000" cy="822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2971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(batch, 60, n_features)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recurrent layers, 50-64 units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0.2 between layers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Dense(1) linear output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1783080"/>
            <a:ext cx="342900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F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783080"/>
            <a:ext cx="3429000" cy="822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Optimisation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709160" y="2606040"/>
            <a:ext cx="2971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MSE on scaled targets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Optimiser: Adam, lr 1e-3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32, up to 100 epochs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on val loss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83880" y="1783080"/>
            <a:ext cx="342900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F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1783080"/>
            <a:ext cx="3429000" cy="822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458200" y="2606040"/>
            <a:ext cx="2971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data for LSTM and GRU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random seeds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validation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last-value baseline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Judge the Models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52120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F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41832" y="207568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20756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1965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91640" y="235000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in price units; punishes large misses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2120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F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9672" y="207568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519672" y="20756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69480" y="1965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269480" y="235000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absolute error; easy to communicate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154680"/>
            <a:ext cx="52120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F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1832" y="344728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941832" y="34472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3337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91640" y="372160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Scale-free percentage error across tickers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3154680"/>
            <a:ext cx="52120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F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19672" y="344728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519672" y="34472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69480" y="3337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269480" y="372160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 versus the mean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" y="4526280"/>
            <a:ext cx="52120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F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41832" y="481888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941832" y="48188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91640" y="4709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accuracy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691640" y="509320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correctly predicted up/down moves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63640" y="4526280"/>
            <a:ext cx="52120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F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519672" y="481888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6519672" y="48188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69480" y="4709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naive baseline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269480" y="509320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model beat 'tomorrow = today'?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5800" y="6035040"/>
            <a:ext cx="10835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accuracy matters more than RMSE for any trading use case.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 In Your Experiment Numbers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05740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0E2A42"/>
          </a:solidFill>
          <a:ln w="12700">
            <a:solidFill>
              <a:srgbClr val="1C3E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3317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[LSTM RMSE — replace]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3200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test RMSE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0" y="205740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0E2A42"/>
          </a:solidFill>
          <a:ln w="12700">
            <a:solidFill>
              <a:srgbClr val="1C3E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3317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[GRU RMSE — replace]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0" y="3200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test RMSE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01000" y="205740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0E2A42"/>
          </a:solidFill>
          <a:ln w="12700">
            <a:solidFill>
              <a:srgbClr val="1C3E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23317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[DIR. ACC — replace]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183880" y="3200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directional accuracy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report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466344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vs. actual price curve on the held-out test window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table for LSTM, GRU and the naive baseline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Training/validation loss curves to evidence convergence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6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and Honest Caveats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58521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test error often means the model is echoing yesterday's price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Backtests ignore slippage, fees, liquidity and execution latency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changes and shocks are absent from the training window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are close to efficient; edge decays as it becomes known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23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sensitive to seed, window length and scaling choices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12280" y="1783080"/>
            <a:ext cx="4754880" cy="3977640"/>
          </a:xfrm>
          <a:prstGeom prst="roundRect">
            <a:avLst>
              <a:gd name="adj" fmla="val 2759"/>
            </a:avLst>
          </a:prstGeom>
          <a:solidFill>
            <a:srgbClr val="0E2A42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01600" dist="12700" dir="5400000">
              <a:srgbClr val="9FB3BF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2057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78040" y="2606040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compare to the naive baseline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directional accuracy, not only RMSE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walk-forward, not a single split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output as research, not investment advice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22960" y="14173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Gated Networks Model Sequences Well — Not Markets Perfectly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3063240"/>
            <a:ext cx="7498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and GRU both capture temporal structure that ARIMA misses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is the pragmatic default: lighter, faster, competitive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lies in trend and volatility context, not exact price calls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22960" y="4892040"/>
            <a:ext cx="128016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51206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D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attention/Transformer baselines, sentiment features, multi-step forecasting.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5806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|  Questions?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6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2026-08-25T06:37:06Z</dcterms:created>
  <dcterms:modified xsi:type="dcterms:W3CDTF">2026-08-25T06:37:06Z</dcterms:modified>
</cp:coreProperties>
</file>